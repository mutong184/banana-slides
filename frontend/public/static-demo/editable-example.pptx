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978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00" y="0"/>
            <a:ext cx="14097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7050" y="4552950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1051" dirty="0">
                <a:solidFill>
                  <a:srgbClr val="70775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</a:t>
            </a:r>
            <a:endParaRPr lang="en-US" sz="1051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50" y="863600"/>
            <a:ext cx="4711700" cy="37782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350" y="3162300"/>
            <a:ext cx="107950" cy="10795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727950" y="0"/>
            <a:ext cx="1409700" cy="1397000"/>
          </a:xfrm>
          <a:prstGeom prst="rect">
            <a:avLst/>
          </a:prstGeom>
          <a:solidFill>
            <a:srgbClr val="FCE7C9"/>
          </a:solidFill>
          <a:ln/>
        </p:spPr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950" y="0"/>
            <a:ext cx="1409700" cy="349885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650" y="1879600"/>
            <a:ext cx="952500" cy="16129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527050" y="3873500"/>
            <a:ext cx="170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44" dirty="0">
                <a:solidFill>
                  <a:srgbClr val="656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授课教师：[您的姓名]</a:t>
            </a:r>
            <a:endParaRPr lang="en-US" sz="1344" dirty="0"/>
          </a:p>
        </p:txBody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00" y="3314700"/>
            <a:ext cx="1631950" cy="3429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698500" y="3359150"/>
            <a:ext cx="1276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392" b="1" dirty="0">
                <a:solidFill>
                  <a:srgbClr val="4C38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探索时间的节奏</a:t>
            </a:r>
            <a:endParaRPr lang="en-US" sz="1392" dirty="0"/>
          </a:p>
        </p:txBody>
      </p:sp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00" y="3035300"/>
            <a:ext cx="2965450" cy="508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527050" y="2679700"/>
            <a:ext cx="296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2"/>
              </a:lnSpc>
              <a:buNone/>
            </a:pPr>
            <a:r>
              <a:rPr lang="en-US" sz="1185" dirty="0">
                <a:solidFill>
                  <a:srgbClr val="6E69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EXPLORATION·OBSERVE·TEST</a:t>
            </a:r>
            <a:endParaRPr lang="en-US" sz="1185" dirty="0"/>
          </a:p>
        </p:txBody>
      </p:sp>
      <p:sp>
        <p:nvSpPr>
          <p:cNvPr id="15" name="Text 5"/>
          <p:cNvSpPr/>
          <p:nvPr/>
        </p:nvSpPr>
        <p:spPr>
          <a:xfrm>
            <a:off x="495300" y="2012950"/>
            <a:ext cx="36258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748"/>
              </a:lnSpc>
              <a:buNone/>
            </a:pPr>
            <a:r>
              <a:rPr lang="en-US" sz="3957" b="1" dirty="0">
                <a:solidFill>
                  <a:srgbClr val="781D2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探索时间的节奏</a:t>
            </a:r>
            <a:endParaRPr lang="en-US" sz="3957" dirty="0"/>
          </a:p>
        </p:txBody>
      </p:sp>
      <p:sp>
        <p:nvSpPr>
          <p:cNvPr id="16" name="Text 6"/>
          <p:cNvSpPr/>
          <p:nvPr/>
        </p:nvSpPr>
        <p:spPr>
          <a:xfrm>
            <a:off x="495300" y="939800"/>
            <a:ext cx="38227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58"/>
              </a:lnSpc>
              <a:buNone/>
            </a:pPr>
            <a:r>
              <a:rPr lang="en-US" sz="7298" b="1" dirty="0">
                <a:solidFill>
                  <a:srgbClr val="202A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摆的快慢</a:t>
            </a:r>
            <a:endParaRPr lang="en-US" sz="7298" dirty="0"/>
          </a:p>
        </p:txBody>
      </p:sp>
      <p:sp>
        <p:nvSpPr>
          <p:cNvPr id="17" name="Shape 7"/>
          <p:cNvSpPr/>
          <p:nvPr/>
        </p:nvSpPr>
        <p:spPr>
          <a:xfrm>
            <a:off x="495300" y="450850"/>
            <a:ext cx="1435100" cy="323850"/>
          </a:xfrm>
          <a:prstGeom prst="rect">
            <a:avLst/>
          </a:prstGeom>
          <a:solidFill>
            <a:srgbClr val="17B6C9"/>
          </a:solidFill>
          <a:ln w="6350">
            <a:solidFill>
              <a:srgbClr val="49B7B6"/>
            </a:solidFill>
            <a:prstDash val="solid"/>
          </a:ln>
        </p:spPr>
      </p:sp>
      <p:sp>
        <p:nvSpPr>
          <p:cNvPr id="18" name="Text 8"/>
          <p:cNvSpPr/>
          <p:nvPr/>
        </p:nvSpPr>
        <p:spPr>
          <a:xfrm>
            <a:off x="793750" y="52705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83" dirty="0">
                <a:solidFill>
                  <a:srgbClr val="A8E9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小学科学探究</a:t>
            </a:r>
            <a:endParaRPr lang="en-US" sz="1083" dirty="0"/>
          </a:p>
        </p:txBody>
      </p:sp>
      <p:sp>
        <p:nvSpPr>
          <p:cNvPr id="19" name="Text 9"/>
          <p:cNvSpPr/>
          <p:nvPr/>
        </p:nvSpPr>
        <p:spPr>
          <a:xfrm>
            <a:off x="5734050" y="3860800"/>
            <a:ext cx="3365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286" dirty="0">
                <a:solidFill>
                  <a:srgbClr val="4E4D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摆锤</a:t>
            </a:r>
            <a:endParaRPr lang="en-US" sz="1286" dirty="0"/>
          </a:p>
        </p:txBody>
      </p:sp>
      <p:sp>
        <p:nvSpPr>
          <p:cNvPr id="20" name="Text 10"/>
          <p:cNvSpPr/>
          <p:nvPr/>
        </p:nvSpPr>
        <p:spPr>
          <a:xfrm>
            <a:off x="8445500" y="3498850"/>
            <a:ext cx="3365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286" b="1" dirty="0">
                <a:solidFill>
                  <a:srgbClr val="5752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</a:t>
            </a:r>
            <a:endParaRPr lang="en-US" sz="1286" dirty="0"/>
          </a:p>
        </p:txBody>
      </p:sp>
      <p:sp>
        <p:nvSpPr>
          <p:cNvPr id="21" name="Text 11"/>
          <p:cNvSpPr/>
          <p:nvPr/>
        </p:nvSpPr>
        <p:spPr>
          <a:xfrm>
            <a:off x="6972300" y="222250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58" dirty="0">
                <a:solidFill>
                  <a:srgbClr val="555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摆绳</a:t>
            </a:r>
            <a:endParaRPr lang="en-US" sz="1358" dirty="0"/>
          </a:p>
        </p:txBody>
      </p:sp>
      <p:sp>
        <p:nvSpPr>
          <p:cNvPr id="22" name="Text 12"/>
          <p:cNvSpPr/>
          <p:nvPr/>
        </p:nvSpPr>
        <p:spPr>
          <a:xfrm>
            <a:off x="7404100" y="274320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4"/>
              </a:lnSpc>
              <a:buNone/>
            </a:pPr>
            <a:r>
              <a:rPr lang="en-US" sz="1262" dirty="0">
                <a:solidFill>
                  <a:srgbClr val="4F50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摆绳</a:t>
            </a:r>
            <a:endParaRPr lang="en-US" sz="126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0" y="977900"/>
            <a:ext cx="184150" cy="4381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300" y="0"/>
            <a:ext cx="12700" cy="8318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7400"/>
            <a:ext cx="1784350" cy="18161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71850"/>
            <a:ext cx="1720850" cy="177165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50" y="3035300"/>
            <a:ext cx="2997200" cy="5080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50850"/>
            <a:ext cx="1435100" cy="32385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00100" y="527050"/>
            <a:ext cx="8445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1076" dirty="0">
                <a:solidFill>
                  <a:srgbClr val="A8EA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小学科学探究</a:t>
            </a:r>
            <a:endParaRPr lang="en-US" sz="1076" dirty="0"/>
          </a:p>
        </p:txBody>
      </p:sp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700" y="0"/>
            <a:ext cx="5143500" cy="499745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0300" y="3663950"/>
            <a:ext cx="254000" cy="254000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4200" y="2482850"/>
            <a:ext cx="698500" cy="298450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0650" y="3670300"/>
            <a:ext cx="1054100" cy="984250"/>
          </a:xfrm>
          <a:prstGeom prst="rect">
            <a:avLst/>
          </a:prstGeom>
        </p:spPr>
      </p:pic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2889250"/>
            <a:ext cx="819150" cy="857250"/>
          </a:xfrm>
          <a:prstGeom prst="rect">
            <a:avLst/>
          </a:prstGeom>
        </p:spPr>
      </p:pic>
      <p:pic>
        <p:nvPicPr>
          <p:cNvPr id="1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8650" y="2286000"/>
            <a:ext cx="1543050" cy="2279650"/>
          </a:xfrm>
          <a:prstGeom prst="rect">
            <a:avLst/>
          </a:prstGeom>
        </p:spPr>
      </p:pic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86350" y="3721100"/>
            <a:ext cx="863600" cy="831850"/>
          </a:xfrm>
          <a:prstGeom prst="rect">
            <a:avLst/>
          </a:prstGeom>
        </p:spPr>
      </p:pic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9450" y="3486150"/>
            <a:ext cx="260350" cy="260350"/>
          </a:xfrm>
          <a:prstGeom prst="rect">
            <a:avLst/>
          </a:prstGeom>
        </p:spPr>
      </p:pic>
      <p:pic>
        <p:nvPicPr>
          <p:cNvPr id="1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11600" y="3213100"/>
            <a:ext cx="952500" cy="1085850"/>
          </a:xfrm>
          <a:prstGeom prst="rect">
            <a:avLst/>
          </a:prstGeom>
        </p:spPr>
      </p:pic>
      <p:pic>
        <p:nvPicPr>
          <p:cNvPr id="1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7100" y="2311400"/>
            <a:ext cx="882650" cy="882650"/>
          </a:xfrm>
          <a:prstGeom prst="rect">
            <a:avLst/>
          </a:prstGeom>
        </p:spPr>
      </p:pic>
      <p:pic>
        <p:nvPicPr>
          <p:cNvPr id="2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65650" y="2197100"/>
            <a:ext cx="254000" cy="260350"/>
          </a:xfrm>
          <a:prstGeom prst="rect">
            <a:avLst/>
          </a:prstGeom>
        </p:spPr>
      </p:pic>
      <p:pic>
        <p:nvPicPr>
          <p:cNvPr id="2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0100" y="1733550"/>
            <a:ext cx="368300" cy="368300"/>
          </a:xfrm>
          <a:prstGeom prst="rect">
            <a:avLst/>
          </a:prstGeom>
        </p:spPr>
      </p:pic>
      <p:pic>
        <p:nvPicPr>
          <p:cNvPr id="2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07250" y="1530350"/>
            <a:ext cx="882650" cy="927100"/>
          </a:xfrm>
          <a:prstGeom prst="rect">
            <a:avLst/>
          </a:prstGeom>
        </p:spPr>
      </p:pic>
      <p:pic>
        <p:nvPicPr>
          <p:cNvPr id="2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48300" y="1854200"/>
            <a:ext cx="190500" cy="165100"/>
          </a:xfrm>
          <a:prstGeom prst="rect">
            <a:avLst/>
          </a:prstGeom>
        </p:spPr>
      </p:pic>
      <p:pic>
        <p:nvPicPr>
          <p:cNvPr id="2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43400" y="1778000"/>
            <a:ext cx="698500" cy="304800"/>
          </a:xfrm>
          <a:prstGeom prst="rect">
            <a:avLst/>
          </a:prstGeom>
        </p:spPr>
      </p:pic>
      <p:pic>
        <p:nvPicPr>
          <p:cNvPr id="2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70800" y="990600"/>
            <a:ext cx="171450" cy="152400"/>
          </a:xfrm>
          <a:prstGeom prst="rect">
            <a:avLst/>
          </a:prstGeom>
        </p:spPr>
      </p:pic>
      <p:pic>
        <p:nvPicPr>
          <p:cNvPr id="2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39050" y="400050"/>
            <a:ext cx="165100" cy="171450"/>
          </a:xfrm>
          <a:prstGeom prst="rect">
            <a:avLst/>
          </a:prstGeom>
        </p:spPr>
      </p:pic>
      <p:pic>
        <p:nvPicPr>
          <p:cNvPr id="2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40700" y="0"/>
            <a:ext cx="996950" cy="914400"/>
          </a:xfrm>
          <a:prstGeom prst="rect">
            <a:avLst/>
          </a:prstGeom>
        </p:spPr>
      </p:pic>
      <p:pic>
        <p:nvPicPr>
          <p:cNvPr id="2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62900" y="336550"/>
            <a:ext cx="184150" cy="190500"/>
          </a:xfrm>
          <a:prstGeom prst="rect">
            <a:avLst/>
          </a:prstGeom>
        </p:spPr>
      </p:pic>
      <p:pic>
        <p:nvPicPr>
          <p:cNvPr id="2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11750" y="393700"/>
            <a:ext cx="869950" cy="1289050"/>
          </a:xfrm>
          <a:prstGeom prst="rect">
            <a:avLst/>
          </a:prstGeom>
        </p:spPr>
      </p:pic>
      <p:sp>
        <p:nvSpPr>
          <p:cNvPr id="30" name="Text 2"/>
          <p:cNvSpPr/>
          <p:nvPr/>
        </p:nvSpPr>
        <p:spPr>
          <a:xfrm>
            <a:off x="501650" y="4559300"/>
            <a:ext cx="1955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67" dirty="0">
                <a:solidFill>
                  <a:srgbClr val="94A07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小学科学·可视化探究课件模板</a:t>
            </a:r>
            <a:endParaRPr lang="en-US" sz="1067" dirty="0"/>
          </a:p>
        </p:txBody>
      </p:sp>
      <p:sp>
        <p:nvSpPr>
          <p:cNvPr id="31" name="Text 3"/>
          <p:cNvSpPr/>
          <p:nvPr/>
        </p:nvSpPr>
        <p:spPr>
          <a:xfrm>
            <a:off x="527050" y="2641600"/>
            <a:ext cx="18034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5"/>
              </a:lnSpc>
              <a:buNone/>
            </a:pPr>
            <a:r>
              <a:rPr lang="en-US" sz="1129" dirty="0">
                <a:solidFill>
                  <a:srgbClr val="575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EXPLORATION ROADMAP</a:t>
            </a:r>
            <a:endParaRPr lang="en-US" sz="1129" dirty="0"/>
          </a:p>
        </p:txBody>
      </p:sp>
      <p:sp>
        <p:nvSpPr>
          <p:cNvPr id="32" name="Text 4"/>
          <p:cNvSpPr/>
          <p:nvPr/>
        </p:nvSpPr>
        <p:spPr>
          <a:xfrm>
            <a:off x="508000" y="1797050"/>
            <a:ext cx="210185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21"/>
              </a:lnSpc>
              <a:buNone/>
            </a:pPr>
            <a:r>
              <a:rPr lang="en-US" sz="5351" b="1" dirty="0">
                <a:solidFill>
                  <a:srgbClr val="1B25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路线图</a:t>
            </a:r>
            <a:endParaRPr lang="en-US" sz="5351" dirty="0"/>
          </a:p>
        </p:txBody>
      </p:sp>
      <p:sp>
        <p:nvSpPr>
          <p:cNvPr id="33" name="Text 5"/>
          <p:cNvSpPr/>
          <p:nvPr/>
        </p:nvSpPr>
        <p:spPr>
          <a:xfrm>
            <a:off x="7200900" y="4248150"/>
            <a:ext cx="419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63"/>
              </a:lnSpc>
              <a:buNone/>
            </a:pPr>
            <a:r>
              <a:rPr lang="en-US" sz="2469" b="1" dirty="0">
                <a:solidFill>
                  <a:srgbClr val="2830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469" dirty="0"/>
          </a:p>
        </p:txBody>
      </p:sp>
      <p:sp>
        <p:nvSpPr>
          <p:cNvPr id="34" name="Text 6"/>
          <p:cNvSpPr/>
          <p:nvPr/>
        </p:nvSpPr>
        <p:spPr>
          <a:xfrm>
            <a:off x="7531100" y="3054350"/>
            <a:ext cx="11874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7"/>
              </a:lnSpc>
              <a:buNone/>
            </a:pPr>
            <a:r>
              <a:rPr lang="en-US" sz="1296" b="1" dirty="0">
                <a:solidFill>
                  <a:srgbClr val="3D415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真相大白：</a:t>
            </a:r>
            <a:endParaRPr lang="en-US" sz="1296" dirty="0"/>
          </a:p>
          <a:p>
            <a:pPr algn="l" indent="0" marL="0">
              <a:lnSpc>
                <a:spcPts val="1717"/>
              </a:lnSpc>
              <a:buNone/>
            </a:pPr>
            <a:r>
              <a:rPr lang="en-US" sz="1296" b="1" dirty="0">
                <a:solidFill>
                  <a:srgbClr val="3D415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让数据开口说话</a:t>
            </a:r>
            <a:endParaRPr lang="en-US" sz="1296" dirty="0"/>
          </a:p>
        </p:txBody>
      </p:sp>
      <p:sp>
        <p:nvSpPr>
          <p:cNvPr id="35" name="Text 7"/>
          <p:cNvSpPr/>
          <p:nvPr/>
        </p:nvSpPr>
        <p:spPr>
          <a:xfrm>
            <a:off x="7524750" y="2736850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58"/>
              </a:lnSpc>
              <a:buNone/>
            </a:pPr>
            <a:r>
              <a:rPr lang="en-US" sz="2298" b="1" dirty="0">
                <a:solidFill>
                  <a:srgbClr val="262E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98" dirty="0"/>
          </a:p>
        </p:txBody>
      </p:sp>
      <p:sp>
        <p:nvSpPr>
          <p:cNvPr id="36" name="Text 8"/>
          <p:cNvSpPr/>
          <p:nvPr/>
        </p:nvSpPr>
        <p:spPr>
          <a:xfrm>
            <a:off x="5892800" y="1822450"/>
            <a:ext cx="1257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86"/>
              </a:lnSpc>
              <a:buNone/>
            </a:pPr>
            <a:r>
              <a:rPr lang="en-US" sz="1601" b="1" dirty="0">
                <a:solidFill>
                  <a:srgbClr val="494C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公平竞赛：</a:t>
            </a:r>
            <a:endParaRPr lang="en-US" sz="1601" dirty="0"/>
          </a:p>
          <a:p>
            <a:pPr algn="r" indent="0" marL="0">
              <a:lnSpc>
                <a:spcPts val="1686"/>
              </a:lnSpc>
              <a:buNone/>
            </a:pPr>
            <a:r>
              <a:rPr lang="en-US" sz="1601" b="1" dirty="0">
                <a:solidFill>
                  <a:srgbClr val="494C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策划变量控制</a:t>
            </a:r>
            <a:endParaRPr lang="en-US" sz="1601" dirty="0"/>
          </a:p>
        </p:txBody>
      </p:sp>
      <p:sp>
        <p:nvSpPr>
          <p:cNvPr id="37" name="Text 9"/>
          <p:cNvSpPr/>
          <p:nvPr/>
        </p:nvSpPr>
        <p:spPr>
          <a:xfrm>
            <a:off x="7905750" y="4102100"/>
            <a:ext cx="51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57"/>
              </a:lnSpc>
              <a:buNone/>
            </a:pPr>
            <a:r>
              <a:rPr lang="en-US" sz="1964" b="1" dirty="0">
                <a:solidFill>
                  <a:srgbClr val="4319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终点</a:t>
            </a:r>
            <a:endParaRPr lang="en-US" sz="1964" dirty="0"/>
          </a:p>
        </p:txBody>
      </p:sp>
      <p:sp>
        <p:nvSpPr>
          <p:cNvPr id="38" name="Text 10"/>
          <p:cNvSpPr/>
          <p:nvPr/>
        </p:nvSpPr>
        <p:spPr>
          <a:xfrm>
            <a:off x="5772150" y="4540250"/>
            <a:ext cx="2565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9"/>
              </a:lnSpc>
              <a:buNone/>
            </a:pPr>
            <a:r>
              <a:rPr lang="en-US" sz="1507" b="1" dirty="0">
                <a:solidFill>
                  <a:srgbClr val="3C405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进阶挑战：摆的“魔法”延仲</a:t>
            </a:r>
            <a:endParaRPr lang="en-US" sz="1507" dirty="0"/>
          </a:p>
        </p:txBody>
      </p:sp>
      <p:sp>
        <p:nvSpPr>
          <p:cNvPr id="39" name="Text 11"/>
          <p:cNvSpPr/>
          <p:nvPr/>
        </p:nvSpPr>
        <p:spPr>
          <a:xfrm>
            <a:off x="5689600" y="2381250"/>
            <a:ext cx="10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293" b="1" dirty="0">
                <a:solidFill>
                  <a:srgbClr val="54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293" dirty="0"/>
          </a:p>
          <a:p>
            <a:pPr algn="l" indent="0" marL="0">
              <a:lnSpc>
                <a:spcPts val="1786"/>
              </a:lnSpc>
              <a:buNone/>
            </a:pPr>
            <a:r>
              <a:rPr lang="en-US" sz="1293" b="1" dirty="0">
                <a:solidFill>
                  <a:srgbClr val="54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实干特工：</a:t>
            </a:r>
            <a:endParaRPr lang="en-US" sz="1293" dirty="0"/>
          </a:p>
          <a:p>
            <a:pPr algn="l" indent="0" marL="0">
              <a:lnSpc>
                <a:spcPts val="1786"/>
              </a:lnSpc>
              <a:buNone/>
            </a:pPr>
            <a:r>
              <a:rPr lang="en-US" sz="1293" b="1" dirty="0">
                <a:solidFill>
                  <a:srgbClr val="5452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实验室大动员</a:t>
            </a:r>
            <a:endParaRPr lang="en-US" sz="1293" dirty="0"/>
          </a:p>
        </p:txBody>
      </p:sp>
      <p:sp>
        <p:nvSpPr>
          <p:cNvPr id="40" name="Text 12"/>
          <p:cNvSpPr/>
          <p:nvPr/>
        </p:nvSpPr>
        <p:spPr>
          <a:xfrm>
            <a:off x="6737350" y="1498600"/>
            <a:ext cx="4000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11"/>
              </a:lnSpc>
              <a:buNone/>
            </a:pPr>
            <a:r>
              <a:rPr lang="en-US" sz="2343" b="1" dirty="0">
                <a:solidFill>
                  <a:srgbClr val="252E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343" dirty="0"/>
          </a:p>
        </p:txBody>
      </p:sp>
      <p:sp>
        <p:nvSpPr>
          <p:cNvPr id="41" name="Text 13"/>
          <p:cNvSpPr/>
          <p:nvPr/>
        </p:nvSpPr>
        <p:spPr>
          <a:xfrm>
            <a:off x="508000" y="952500"/>
            <a:ext cx="348615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1"/>
              </a:lnSpc>
              <a:buNone/>
            </a:pPr>
            <a:r>
              <a:rPr lang="en-US" sz="5326" b="1" dirty="0">
                <a:solidFill>
                  <a:srgbClr val="212B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我们的探究</a:t>
            </a:r>
            <a:endParaRPr lang="en-US" sz="5326" dirty="0"/>
          </a:p>
        </p:txBody>
      </p:sp>
      <p:sp>
        <p:nvSpPr>
          <p:cNvPr id="42" name="Text 14"/>
          <p:cNvSpPr/>
          <p:nvPr/>
        </p:nvSpPr>
        <p:spPr>
          <a:xfrm>
            <a:off x="6108700" y="711200"/>
            <a:ext cx="1327150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448" b="1" dirty="0">
                <a:solidFill>
                  <a:srgbClr val="3F41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疑问起航：</a:t>
            </a:r>
            <a:endParaRPr lang="en-US" sz="1448" dirty="0"/>
          </a:p>
          <a:p>
            <a:pPr algn="l" indent="0" marL="0">
              <a:lnSpc>
                <a:spcPts val="1733"/>
              </a:lnSpc>
              <a:buNone/>
            </a:pPr>
            <a:r>
              <a:rPr lang="en-US" sz="1448" b="1" dirty="0">
                <a:solidFill>
                  <a:srgbClr val="3F41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谁在左右时间？</a:t>
            </a:r>
            <a:endParaRPr lang="en-US" sz="1448" dirty="0"/>
          </a:p>
        </p:txBody>
      </p:sp>
      <p:sp>
        <p:nvSpPr>
          <p:cNvPr id="43" name="Text 15"/>
          <p:cNvSpPr/>
          <p:nvPr/>
        </p:nvSpPr>
        <p:spPr>
          <a:xfrm>
            <a:off x="6108700" y="412750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212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500" dirty="0"/>
          </a:p>
        </p:txBody>
      </p:sp>
      <p:sp>
        <p:nvSpPr>
          <p:cNvPr id="44" name="Text 16"/>
          <p:cNvSpPr/>
          <p:nvPr/>
        </p:nvSpPr>
        <p:spPr>
          <a:xfrm>
            <a:off x="5029200" y="469900"/>
            <a:ext cx="4254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25" b="1" dirty="0">
                <a:solidFill>
                  <a:srgbClr val="4549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起点</a:t>
            </a:r>
            <a:endParaRPr lang="en-US" sz="16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800" y="4584700"/>
            <a:ext cx="279400" cy="444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850" y="4686300"/>
            <a:ext cx="4229100" cy="31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050" y="4191000"/>
            <a:ext cx="165100" cy="1651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8464550" y="3873500"/>
            <a:ext cx="279400" cy="279400"/>
          </a:xfrm>
          <a:prstGeom prst="rect">
            <a:avLst/>
          </a:prstGeom>
          <a:solidFill>
            <a:srgbClr val="FF6170"/>
          </a:solidFill>
          <a:ln w="6350">
            <a:solidFill>
              <a:srgbClr val="F77382"/>
            </a:solidFill>
            <a:prstDash val="solid"/>
          </a:ln>
        </p:spPr>
      </p:sp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0" y="3962400"/>
            <a:ext cx="215900" cy="215900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2940050" y="4006850"/>
            <a:ext cx="3683000" cy="552450"/>
          </a:xfrm>
          <a:prstGeom prst="rect">
            <a:avLst/>
          </a:prstGeom>
          <a:solidFill>
            <a:srgbClr val="FBBA34"/>
          </a:solidFill>
          <a:ln w="6350">
            <a:solidFill>
              <a:srgbClr val="EFC571"/>
            </a:solidFill>
            <a:prstDash val="solid"/>
          </a:ln>
        </p:spPr>
      </p:sp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6700" y="3924300"/>
            <a:ext cx="622300" cy="68580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7300" y="3956050"/>
            <a:ext cx="666750" cy="65405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3359150" y="4102100"/>
            <a:ext cx="31686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017" b="1" dirty="0">
                <a:solidFill>
                  <a:srgbClr val="3624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为什么它们的节奏不一样？</a:t>
            </a:r>
            <a:endParaRPr lang="en-US" sz="2017" dirty="0"/>
          </a:p>
        </p:txBody>
      </p:sp>
      <p:sp>
        <p:nvSpPr>
          <p:cNvPr id="13" name="Text 3"/>
          <p:cNvSpPr/>
          <p:nvPr/>
        </p:nvSpPr>
        <p:spPr>
          <a:xfrm>
            <a:off x="2597150" y="4127500"/>
            <a:ext cx="53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4"/>
              </a:lnSpc>
              <a:buNone/>
            </a:pPr>
            <a:r>
              <a:rPr lang="en-US" sz="2061" b="1" dirty="0">
                <a:solidFill>
                  <a:srgbClr val="F4CF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悬念</a:t>
            </a:r>
            <a:endParaRPr lang="en-US" sz="2061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100" y="3873500"/>
            <a:ext cx="285750" cy="298450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0450" y="2171700"/>
            <a:ext cx="1257300" cy="1485900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2650" y="2387600"/>
            <a:ext cx="1346200" cy="1384300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0450" y="2673350"/>
            <a:ext cx="431800" cy="342900"/>
          </a:xfrm>
          <a:prstGeom prst="rect">
            <a:avLst/>
          </a:prstGeom>
        </p:spPr>
      </p:pic>
      <p:sp>
        <p:nvSpPr>
          <p:cNvPr id="18" name="Shape 4"/>
          <p:cNvSpPr/>
          <p:nvPr/>
        </p:nvSpPr>
        <p:spPr>
          <a:xfrm>
            <a:off x="4933950" y="2171700"/>
            <a:ext cx="1289050" cy="330200"/>
          </a:xfrm>
          <a:prstGeom prst="rect">
            <a:avLst/>
          </a:prstGeom>
          <a:solidFill>
            <a:srgbClr val="B4AFFB"/>
          </a:solidFill>
          <a:ln w="6350">
            <a:solidFill>
              <a:srgbClr val="BCBCF1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5086350" y="21844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71"/>
              </a:lnSpc>
              <a:buNone/>
            </a:pPr>
            <a:r>
              <a:rPr lang="en-US" sz="1892" b="1" dirty="0">
                <a:solidFill>
                  <a:srgbClr val="2825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慢悠悠的</a:t>
            </a:r>
            <a:endParaRPr lang="en-US" sz="1892" dirty="0"/>
          </a:p>
        </p:txBody>
      </p:sp>
      <p:pic>
        <p:nvPicPr>
          <p:cNvPr id="2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1300" y="2108200"/>
            <a:ext cx="3092450" cy="1695450"/>
          </a:xfrm>
          <a:prstGeom prst="rect">
            <a:avLst/>
          </a:prstGeom>
        </p:spPr>
      </p:pic>
      <p:pic>
        <p:nvPicPr>
          <p:cNvPr id="2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3575050"/>
            <a:ext cx="1638300" cy="1568450"/>
          </a:xfrm>
          <a:prstGeom prst="rect">
            <a:avLst/>
          </a:prstGeom>
        </p:spPr>
      </p:pic>
      <p:sp>
        <p:nvSpPr>
          <p:cNvPr id="22" name="Shape 6"/>
          <p:cNvSpPr/>
          <p:nvPr/>
        </p:nvSpPr>
        <p:spPr>
          <a:xfrm>
            <a:off x="457200" y="2171700"/>
            <a:ext cx="1289050" cy="330200"/>
          </a:xfrm>
          <a:prstGeom prst="rect">
            <a:avLst/>
          </a:prstGeom>
          <a:solidFill>
            <a:srgbClr val="D8EF0A"/>
          </a:solidFill>
          <a:ln w="6350">
            <a:solidFill>
              <a:srgbClr val="D3EC47"/>
            </a:solidFill>
            <a:prstDash val="solid"/>
          </a:ln>
        </p:spPr>
      </p:sp>
      <p:sp>
        <p:nvSpPr>
          <p:cNvPr id="23" name="Text 7"/>
          <p:cNvSpPr/>
          <p:nvPr/>
        </p:nvSpPr>
        <p:spPr>
          <a:xfrm>
            <a:off x="615950" y="2190750"/>
            <a:ext cx="9779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41"/>
              </a:lnSpc>
              <a:buNone/>
            </a:pPr>
            <a:r>
              <a:rPr lang="en-US" sz="1868" b="1" dirty="0">
                <a:solidFill>
                  <a:srgbClr val="2C34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动得飞快</a:t>
            </a:r>
            <a:endParaRPr lang="en-US" sz="1868" dirty="0"/>
          </a:p>
        </p:txBody>
      </p:sp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700" y="1504950"/>
            <a:ext cx="4006850" cy="19050"/>
          </a:xfrm>
          <a:prstGeom prst="rect">
            <a:avLst/>
          </a:prstGeom>
        </p:spPr>
      </p:pic>
      <p:sp>
        <p:nvSpPr>
          <p:cNvPr id="25" name="Shape 8"/>
          <p:cNvSpPr/>
          <p:nvPr/>
        </p:nvSpPr>
        <p:spPr>
          <a:xfrm>
            <a:off x="495300" y="450850"/>
            <a:ext cx="1435100" cy="323850"/>
          </a:xfrm>
          <a:prstGeom prst="rect">
            <a:avLst/>
          </a:prstGeom>
          <a:solidFill>
            <a:srgbClr val="19B7C9"/>
          </a:solidFill>
          <a:ln w="6350">
            <a:solidFill>
              <a:srgbClr val="58BECA"/>
            </a:solidFill>
            <a:prstDash val="solid"/>
          </a:ln>
        </p:spPr>
      </p:sp>
      <p:sp>
        <p:nvSpPr>
          <p:cNvPr id="26" name="Text 9"/>
          <p:cNvSpPr/>
          <p:nvPr/>
        </p:nvSpPr>
        <p:spPr>
          <a:xfrm>
            <a:off x="793750" y="527050"/>
            <a:ext cx="85725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91" dirty="0">
                <a:solidFill>
                  <a:srgbClr val="A6E8E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小学科学探究</a:t>
            </a:r>
            <a:endParaRPr lang="en-US" sz="1091" dirty="0"/>
          </a:p>
        </p:txBody>
      </p:sp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40650" y="0"/>
            <a:ext cx="1384300" cy="1358900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9000" y="1047750"/>
            <a:ext cx="628650" cy="812800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495300" y="4559300"/>
            <a:ext cx="168275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5"/>
              </a:lnSpc>
              <a:buNone/>
            </a:pPr>
            <a:r>
              <a:rPr lang="en-US" sz="1071" b="1" dirty="0">
                <a:solidFill>
                  <a:srgbClr val="7993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</a:t>
            </a:r>
            <a:endParaRPr lang="en-US" sz="1071" dirty="0"/>
          </a:p>
        </p:txBody>
      </p:sp>
      <p:sp>
        <p:nvSpPr>
          <p:cNvPr id="30" name="Text 11"/>
          <p:cNvSpPr/>
          <p:nvPr/>
        </p:nvSpPr>
        <p:spPr>
          <a:xfrm>
            <a:off x="3613150" y="2571750"/>
            <a:ext cx="3492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1"/>
              </a:lnSpc>
              <a:buNone/>
            </a:pPr>
            <a:r>
              <a:rPr lang="en-US" sz="1334" dirty="0">
                <a:solidFill>
                  <a:srgbClr val="7E86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重影</a:t>
            </a:r>
            <a:endParaRPr lang="en-US" sz="1334" dirty="0"/>
          </a:p>
        </p:txBody>
      </p:sp>
      <p:sp>
        <p:nvSpPr>
          <p:cNvPr id="31" name="Text 12"/>
          <p:cNvSpPr/>
          <p:nvPr/>
        </p:nvSpPr>
        <p:spPr>
          <a:xfrm>
            <a:off x="1911350" y="2571750"/>
            <a:ext cx="3492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1"/>
              </a:lnSpc>
              <a:buNone/>
            </a:pPr>
            <a:r>
              <a:rPr lang="en-US" sz="1334" dirty="0">
                <a:solidFill>
                  <a:srgbClr val="868D9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重影</a:t>
            </a:r>
            <a:endParaRPr lang="en-US" sz="1334" dirty="0"/>
          </a:p>
        </p:txBody>
      </p:sp>
      <p:sp>
        <p:nvSpPr>
          <p:cNvPr id="32" name="Text 13"/>
          <p:cNvSpPr/>
          <p:nvPr/>
        </p:nvSpPr>
        <p:spPr>
          <a:xfrm>
            <a:off x="4965700" y="1682750"/>
            <a:ext cx="317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11"/>
              </a:lnSpc>
              <a:buNone/>
            </a:pPr>
            <a:r>
              <a:rPr lang="en-US" sz="2425" b="1" dirty="0">
                <a:solidFill>
                  <a:srgbClr val="23294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有的摆是个“慢郎中”</a:t>
            </a:r>
            <a:endParaRPr lang="en-US" sz="2425" dirty="0"/>
          </a:p>
        </p:txBody>
      </p:sp>
      <p:sp>
        <p:nvSpPr>
          <p:cNvPr id="33" name="Text 14"/>
          <p:cNvSpPr/>
          <p:nvPr/>
        </p:nvSpPr>
        <p:spPr>
          <a:xfrm>
            <a:off x="501650" y="1689100"/>
            <a:ext cx="316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99"/>
              </a:lnSpc>
              <a:buNone/>
            </a:pPr>
            <a:r>
              <a:rPr lang="en-US" sz="2415" b="1" dirty="0">
                <a:solidFill>
                  <a:srgbClr val="272D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有的摆是个“急性子”</a:t>
            </a:r>
            <a:endParaRPr lang="en-US" sz="2415" dirty="0"/>
          </a:p>
        </p:txBody>
      </p:sp>
      <p:sp>
        <p:nvSpPr>
          <p:cNvPr id="34" name="Text 15"/>
          <p:cNvSpPr/>
          <p:nvPr/>
        </p:nvSpPr>
        <p:spPr>
          <a:xfrm>
            <a:off x="495300" y="850900"/>
            <a:ext cx="762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66"/>
              </a:lnSpc>
              <a:buNone/>
            </a:pPr>
            <a:r>
              <a:rPr lang="en-US" sz="3638" b="1" dirty="0">
                <a:solidFill>
                  <a:srgbClr val="19224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不同的摆在相同时间内摆动快慢不同</a:t>
            </a:r>
            <a:endParaRPr lang="en-US" sz="36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F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419100"/>
            <a:ext cx="69850" cy="1333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4565650"/>
            <a:ext cx="4241800" cy="1714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464550" y="4254500"/>
            <a:ext cx="279400" cy="273050"/>
          </a:xfrm>
          <a:prstGeom prst="rect">
            <a:avLst/>
          </a:prstGeom>
          <a:solidFill>
            <a:srgbClr val="FF5F6E"/>
          </a:solidFill>
          <a:ln w="6350">
            <a:solidFill>
              <a:srgbClr val="F95C6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53350" y="4343400"/>
            <a:ext cx="209550" cy="209550"/>
          </a:xfrm>
          <a:prstGeom prst="rect">
            <a:avLst/>
          </a:prstGeom>
          <a:solidFill>
            <a:srgbClr val="FFC63B"/>
          </a:solidFill>
          <a:ln w="6350">
            <a:solidFill>
              <a:srgbClr val="FCCC59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575050"/>
            <a:ext cx="1619250" cy="15684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226300" y="2952750"/>
            <a:ext cx="1289050" cy="387350"/>
          </a:xfrm>
          <a:prstGeom prst="rect">
            <a:avLst/>
          </a:prstGeom>
          <a:solidFill>
            <a:srgbClr val="FCBA35"/>
          </a:solidFill>
          <a:ln w="6350">
            <a:solidFill>
              <a:srgbClr val="EFC56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594600" y="3009900"/>
            <a:ext cx="57785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6"/>
              </a:lnSpc>
              <a:buNone/>
            </a:pPr>
            <a:r>
              <a:rPr lang="en-US" sz="1705" b="1" dirty="0">
                <a:solidFill>
                  <a:srgbClr val="412D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猜想3</a:t>
            </a:r>
            <a:endParaRPr lang="en-US" sz="170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3054350"/>
            <a:ext cx="2959100" cy="1270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250" y="2609850"/>
            <a:ext cx="69850" cy="3429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5327650" y="2952750"/>
            <a:ext cx="1289050" cy="387350"/>
          </a:xfrm>
          <a:prstGeom prst="rect">
            <a:avLst/>
          </a:prstGeom>
          <a:solidFill>
            <a:srgbClr val="6350EB"/>
          </a:solidFill>
          <a:ln w="19050">
            <a:solidFill>
              <a:srgbClr val="6D5FD3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695950" y="3009900"/>
            <a:ext cx="57785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6"/>
              </a:lnSpc>
              <a:buNone/>
            </a:pPr>
            <a:r>
              <a:rPr lang="en-US" sz="1705" b="1" dirty="0">
                <a:solidFill>
                  <a:srgbClr val="DAD5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猜想2</a:t>
            </a:r>
            <a:endParaRPr lang="en-US" sz="1705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0"/>
            <a:ext cx="1638300" cy="1358900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1250950"/>
            <a:ext cx="1479550" cy="1365250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5900" y="2609850"/>
            <a:ext cx="69850" cy="336550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750" y="2609850"/>
            <a:ext cx="76200" cy="342900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>
            <a:off x="3492500" y="2952750"/>
            <a:ext cx="1289050" cy="387350"/>
          </a:xfrm>
          <a:prstGeom prst="rect">
            <a:avLst/>
          </a:prstGeom>
          <a:solidFill>
            <a:srgbClr val="D4F003"/>
          </a:solidFill>
          <a:ln w="6350">
            <a:solidFill>
              <a:srgbClr val="D8E94C"/>
            </a:solidFill>
            <a:prstDash val="solid"/>
          </a:ln>
        </p:spPr>
      </p:sp>
      <p:sp>
        <p:nvSpPr>
          <p:cNvPr id="19" name="Text 8"/>
          <p:cNvSpPr/>
          <p:nvPr/>
        </p:nvSpPr>
        <p:spPr>
          <a:xfrm>
            <a:off x="3854450" y="3009900"/>
            <a:ext cx="56515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67" b="1" dirty="0">
                <a:solidFill>
                  <a:srgbClr val="353C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猜想1</a:t>
            </a:r>
            <a:endParaRPr lang="en-US" sz="1667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0500" y="1193800"/>
            <a:ext cx="1536700" cy="136525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5350" y="1257300"/>
            <a:ext cx="1403350" cy="1301750"/>
          </a:xfrm>
          <a:prstGeom prst="rect">
            <a:avLst/>
          </a:prstGeom>
        </p:spPr>
      </p:pic>
      <p:sp>
        <p:nvSpPr>
          <p:cNvPr id="22" name="Shape 9"/>
          <p:cNvSpPr/>
          <p:nvPr/>
        </p:nvSpPr>
        <p:spPr>
          <a:xfrm>
            <a:off x="488950" y="450850"/>
            <a:ext cx="1968500" cy="323850"/>
          </a:xfrm>
          <a:prstGeom prst="rect">
            <a:avLst/>
          </a:prstGeom>
          <a:solidFill>
            <a:srgbClr val="17B6C8"/>
          </a:solidFill>
          <a:ln w="6350">
            <a:solidFill>
              <a:srgbClr val="46B6C1"/>
            </a:solidFill>
            <a:prstDash val="solid"/>
          </a:ln>
        </p:spPr>
      </p:sp>
      <p:sp>
        <p:nvSpPr>
          <p:cNvPr id="23" name="Text 10"/>
          <p:cNvSpPr/>
          <p:nvPr/>
        </p:nvSpPr>
        <p:spPr>
          <a:xfrm>
            <a:off x="787400" y="520700"/>
            <a:ext cx="13843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b="1" dirty="0">
                <a:solidFill>
                  <a:srgbClr val="ACE7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小学科学·科学猜想</a:t>
            </a:r>
            <a:endParaRPr lang="en-US" sz="1175" dirty="0"/>
          </a:p>
        </p:txBody>
      </p:sp>
      <p:sp>
        <p:nvSpPr>
          <p:cNvPr id="24" name="Text 11"/>
          <p:cNvSpPr/>
          <p:nvPr/>
        </p:nvSpPr>
        <p:spPr>
          <a:xfrm>
            <a:off x="7112000" y="38417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85" dirty="0">
                <a:solidFill>
                  <a:srgbClr val="6A6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（荡得高还是荡得低？）</a:t>
            </a:r>
            <a:endParaRPr lang="en-US" sz="1085" dirty="0"/>
          </a:p>
        </p:txBody>
      </p:sp>
      <p:sp>
        <p:nvSpPr>
          <p:cNvPr id="25" name="Text 12"/>
          <p:cNvSpPr/>
          <p:nvPr/>
        </p:nvSpPr>
        <p:spPr>
          <a:xfrm>
            <a:off x="5213350" y="38417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55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（重一点还是轻一点？)</a:t>
            </a:r>
            <a:endParaRPr lang="en-US" sz="1155" dirty="0"/>
          </a:p>
        </p:txBody>
      </p:sp>
      <p:sp>
        <p:nvSpPr>
          <p:cNvPr id="26" name="Text 13"/>
          <p:cNvSpPr/>
          <p:nvPr/>
        </p:nvSpPr>
        <p:spPr>
          <a:xfrm>
            <a:off x="3371850" y="3854450"/>
            <a:ext cx="1536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67" dirty="0">
                <a:solidFill>
                  <a:srgbClr val="6666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（长一点还是短一点？）</a:t>
            </a:r>
            <a:endParaRPr lang="en-US" sz="1067" dirty="0"/>
          </a:p>
        </p:txBody>
      </p:sp>
      <p:sp>
        <p:nvSpPr>
          <p:cNvPr id="27" name="Text 14"/>
          <p:cNvSpPr/>
          <p:nvPr/>
        </p:nvSpPr>
        <p:spPr>
          <a:xfrm>
            <a:off x="5289550" y="3460750"/>
            <a:ext cx="35687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26"/>
              </a:lnSpc>
              <a:buNone/>
            </a:pPr>
            <a:r>
              <a:rPr lang="en-US" sz="2272" b="1" dirty="0">
                <a:solidFill>
                  <a:srgbClr val="34333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摆锤的重量摆动幅度的大小</a:t>
            </a:r>
            <a:endParaRPr lang="en-US" sz="2272" dirty="0"/>
          </a:p>
        </p:txBody>
      </p:sp>
      <p:sp>
        <p:nvSpPr>
          <p:cNvPr id="28" name="Text 15"/>
          <p:cNvSpPr/>
          <p:nvPr/>
        </p:nvSpPr>
        <p:spPr>
          <a:xfrm>
            <a:off x="3448050" y="3460750"/>
            <a:ext cx="139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1"/>
              </a:lnSpc>
              <a:buNone/>
            </a:pPr>
            <a:r>
              <a:rPr lang="en-US" sz="2134" b="1" dirty="0">
                <a:solidFill>
                  <a:srgbClr val="2B2A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摆绳的长短</a:t>
            </a:r>
            <a:endParaRPr lang="en-US" sz="2134" dirty="0"/>
          </a:p>
        </p:txBody>
      </p:sp>
      <p:sp>
        <p:nvSpPr>
          <p:cNvPr id="29" name="Text 16"/>
          <p:cNvSpPr/>
          <p:nvPr/>
        </p:nvSpPr>
        <p:spPr>
          <a:xfrm>
            <a:off x="501650" y="4559300"/>
            <a:ext cx="1955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067" dirty="0">
                <a:solidFill>
                  <a:srgbClr val="95A1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小学科学·可视化探究课件模板</a:t>
            </a:r>
            <a:endParaRPr lang="en-US" sz="1067" dirty="0"/>
          </a:p>
        </p:txBody>
      </p:sp>
      <p:sp>
        <p:nvSpPr>
          <p:cNvPr id="30" name="Text 17"/>
          <p:cNvSpPr/>
          <p:nvPr/>
        </p:nvSpPr>
        <p:spPr>
          <a:xfrm>
            <a:off x="7442200" y="2012950"/>
            <a:ext cx="52070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87"/>
              </a:lnSpc>
              <a:buNone/>
            </a:pPr>
            <a:r>
              <a:rPr lang="en-US" sz="1989" b="1" dirty="0">
                <a:solidFill>
                  <a:srgbClr val="34251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角度</a:t>
            </a:r>
            <a:endParaRPr lang="en-US" sz="1989" dirty="0"/>
          </a:p>
        </p:txBody>
      </p:sp>
      <p:sp>
        <p:nvSpPr>
          <p:cNvPr id="31" name="Text 18"/>
          <p:cNvSpPr/>
          <p:nvPr/>
        </p:nvSpPr>
        <p:spPr>
          <a:xfrm>
            <a:off x="7632700" y="552450"/>
            <a:ext cx="10731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59"/>
              </a:lnSpc>
              <a:buNone/>
            </a:pPr>
            <a:r>
              <a:rPr lang="en-US" sz="2049" dirty="0">
                <a:solidFill>
                  <a:srgbClr val="4047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猜想仓库</a:t>
            </a:r>
            <a:endParaRPr lang="en-US" sz="2049" dirty="0"/>
          </a:p>
        </p:txBody>
      </p:sp>
      <p:sp>
        <p:nvSpPr>
          <p:cNvPr id="32" name="Text 19"/>
          <p:cNvSpPr/>
          <p:nvPr/>
        </p:nvSpPr>
        <p:spPr>
          <a:xfrm>
            <a:off x="527050" y="2647950"/>
            <a:ext cx="317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8" dirty="0">
                <a:solidFill>
                  <a:srgbClr val="86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EXPLORATION · OBSERVE · GUESS · SHARE</a:t>
            </a:r>
            <a:endParaRPr lang="en-US" sz="958" dirty="0"/>
          </a:p>
        </p:txBody>
      </p:sp>
      <p:sp>
        <p:nvSpPr>
          <p:cNvPr id="33" name="Text 20"/>
          <p:cNvSpPr/>
          <p:nvPr/>
        </p:nvSpPr>
        <p:spPr>
          <a:xfrm>
            <a:off x="488950" y="1447800"/>
            <a:ext cx="20764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64" b="1" dirty="0">
                <a:solidFill>
                  <a:srgbClr val="2831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能与三个</a:t>
            </a:r>
            <a:endParaRPr lang="en-US" sz="3964" dirty="0"/>
          </a:p>
          <a:p>
            <a:pPr algn="l" indent="0" marL="0">
              <a:lnSpc>
                <a:spcPts val="4290"/>
              </a:lnSpc>
              <a:buNone/>
            </a:pPr>
            <a:r>
              <a:rPr lang="en-US" sz="3964" b="1" dirty="0">
                <a:solidFill>
                  <a:srgbClr val="2831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因素有关</a:t>
            </a:r>
            <a:endParaRPr lang="en-US" sz="3964" dirty="0"/>
          </a:p>
        </p:txBody>
      </p:sp>
      <p:sp>
        <p:nvSpPr>
          <p:cNvPr id="34" name="Text 21"/>
          <p:cNvSpPr/>
          <p:nvPr/>
        </p:nvSpPr>
        <p:spPr>
          <a:xfrm>
            <a:off x="488950" y="882650"/>
            <a:ext cx="25463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67"/>
              </a:lnSpc>
              <a:buNone/>
            </a:pPr>
            <a:r>
              <a:rPr lang="en-US" sz="3889" b="1" dirty="0">
                <a:solidFill>
                  <a:srgbClr val="28325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摆的快慢可</a:t>
            </a:r>
            <a:endParaRPr lang="en-US" sz="388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0700" y="3854450"/>
            <a:ext cx="1327150" cy="336550"/>
          </a:xfrm>
          <a:prstGeom prst="rect">
            <a:avLst/>
          </a:prstGeom>
          <a:solidFill>
            <a:srgbClr val="FC9312"/>
          </a:solidFill>
          <a:ln w="6350">
            <a:solidFill>
              <a:srgbClr val="EAA23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84250" y="3898900"/>
            <a:ext cx="412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2"/>
              </a:lnSpc>
              <a:buNone/>
            </a:pPr>
            <a:r>
              <a:rPr lang="en-US" sz="1577" b="1" dirty="0">
                <a:solidFill>
                  <a:srgbClr val="41200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例如</a:t>
            </a:r>
            <a:endParaRPr lang="en-US" sz="1577" dirty="0"/>
          </a:p>
        </p:txBody>
      </p:sp>
      <p:sp>
        <p:nvSpPr>
          <p:cNvPr id="5" name="Shape 2"/>
          <p:cNvSpPr/>
          <p:nvPr/>
        </p:nvSpPr>
        <p:spPr>
          <a:xfrm>
            <a:off x="520700" y="3314700"/>
            <a:ext cx="1327150" cy="342900"/>
          </a:xfrm>
          <a:prstGeom prst="rect">
            <a:avLst/>
          </a:prstGeom>
          <a:solidFill>
            <a:srgbClr val="4A62F8"/>
          </a:solidFill>
          <a:ln w="6350">
            <a:solidFill>
              <a:srgbClr val="6476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3365500"/>
            <a:ext cx="768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67" b="1" dirty="0">
                <a:solidFill>
                  <a:srgbClr val="CFD8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保持不变</a:t>
            </a:r>
            <a:endParaRPr lang="en-US" sz="1467" dirty="0"/>
          </a:p>
        </p:txBody>
      </p:sp>
      <p:sp>
        <p:nvSpPr>
          <p:cNvPr id="7" name="Shape 4"/>
          <p:cNvSpPr/>
          <p:nvPr/>
        </p:nvSpPr>
        <p:spPr>
          <a:xfrm>
            <a:off x="520700" y="2774950"/>
            <a:ext cx="1327150" cy="336550"/>
          </a:xfrm>
          <a:prstGeom prst="rect">
            <a:avLst/>
          </a:prstGeom>
          <a:solidFill>
            <a:srgbClr val="FDD302"/>
          </a:solidFill>
          <a:ln w="6350">
            <a:solidFill>
              <a:srgbClr val="F1D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800" y="2825750"/>
            <a:ext cx="76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6"/>
              </a:lnSpc>
              <a:buNone/>
            </a:pPr>
            <a:r>
              <a:rPr lang="en-US" sz="1455" b="1" dirty="0">
                <a:solidFill>
                  <a:srgbClr val="493B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公平原则</a:t>
            </a:r>
            <a:endParaRPr lang="en-US" sz="145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489200"/>
            <a:ext cx="3460750" cy="50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5300" y="450850"/>
            <a:ext cx="1435100" cy="323850"/>
          </a:xfrm>
          <a:prstGeom prst="rect">
            <a:avLst/>
          </a:prstGeom>
          <a:solidFill>
            <a:srgbClr val="17B8C9"/>
          </a:solidFill>
          <a:ln w="6350">
            <a:solidFill>
              <a:srgbClr val="3FB5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350" y="5207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AFEB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科学探究方法</a:t>
            </a:r>
            <a:endParaRPr lang="en-US" sz="1140" dirty="0"/>
          </a:p>
        </p:txBody>
      </p:sp>
      <p:sp>
        <p:nvSpPr>
          <p:cNvPr id="12" name="Shape 8"/>
          <p:cNvSpPr/>
          <p:nvPr/>
        </p:nvSpPr>
        <p:spPr>
          <a:xfrm>
            <a:off x="7734300" y="0"/>
            <a:ext cx="1403350" cy="1435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7734300" y="0"/>
            <a:ext cx="1403350" cy="3028950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0"/>
            <a:ext cx="1403350" cy="499745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450" y="4673600"/>
            <a:ext cx="4273550" cy="571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753350" y="3962400"/>
            <a:ext cx="209550" cy="209550"/>
          </a:xfrm>
          <a:prstGeom prst="rect">
            <a:avLst/>
          </a:prstGeom>
          <a:solidFill>
            <a:srgbClr val="FDC932"/>
          </a:solidFill>
          <a:ln w="6350">
            <a:solidFill>
              <a:srgbClr val="F1D57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0" y="1136650"/>
            <a:ext cx="3213100" cy="279400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800" y="1117600"/>
            <a:ext cx="273050" cy="28575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900" y="1206500"/>
            <a:ext cx="1358900" cy="27622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20700" y="4533900"/>
            <a:ext cx="153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067" dirty="0">
                <a:solidFill>
                  <a:srgbClr val="6874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科学探究·实验设计法则</a:t>
            </a:r>
            <a:endParaRPr lang="en-US" sz="1067" dirty="0"/>
          </a:p>
        </p:txBody>
      </p:sp>
      <p:sp>
        <p:nvSpPr>
          <p:cNvPr id="21" name="Text 12"/>
          <p:cNvSpPr/>
          <p:nvPr/>
        </p:nvSpPr>
        <p:spPr>
          <a:xfrm>
            <a:off x="1974850" y="3340100"/>
            <a:ext cx="23304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0"/>
              </a:lnSpc>
              <a:buNone/>
            </a:pPr>
            <a:r>
              <a:rPr lang="en-US" sz="1484" b="1" dirty="0">
                <a:solidFill>
                  <a:srgbClr val="3F3E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其他所有条件必须完全一致</a:t>
            </a:r>
            <a:endParaRPr lang="en-US" sz="1484" dirty="0"/>
          </a:p>
        </p:txBody>
      </p:sp>
      <p:sp>
        <p:nvSpPr>
          <p:cNvPr id="22" name="Text 13"/>
          <p:cNvSpPr/>
          <p:nvPr/>
        </p:nvSpPr>
        <p:spPr>
          <a:xfrm>
            <a:off x="1974850" y="2806700"/>
            <a:ext cx="233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0"/>
              </a:lnSpc>
              <a:buNone/>
            </a:pPr>
            <a:r>
              <a:rPr lang="en-US" sz="1484" b="1" dirty="0">
                <a:solidFill>
                  <a:srgbClr val="3F3E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只能改变我们要研究的条件</a:t>
            </a:r>
            <a:endParaRPr lang="en-US" sz="1484" dirty="0"/>
          </a:p>
        </p:txBody>
      </p:sp>
      <p:sp>
        <p:nvSpPr>
          <p:cNvPr id="23" name="Text 14"/>
          <p:cNvSpPr/>
          <p:nvPr/>
        </p:nvSpPr>
        <p:spPr>
          <a:xfrm>
            <a:off x="520700" y="2089150"/>
            <a:ext cx="3429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1040" dirty="0">
                <a:solidFill>
                  <a:srgbClr val="6567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EXPERIMENT·CONTROLLING VARIABLES</a:t>
            </a:r>
            <a:endParaRPr lang="en-US" sz="1040" dirty="0"/>
          </a:p>
        </p:txBody>
      </p:sp>
      <p:sp>
        <p:nvSpPr>
          <p:cNvPr id="24" name="Text 15"/>
          <p:cNvSpPr/>
          <p:nvPr/>
        </p:nvSpPr>
        <p:spPr>
          <a:xfrm>
            <a:off x="501650" y="876300"/>
            <a:ext cx="249555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74"/>
              </a:lnSpc>
              <a:buNone/>
            </a:pPr>
            <a:r>
              <a:rPr lang="en-US" sz="3812" b="1" dirty="0">
                <a:solidFill>
                  <a:srgbClr val="232E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严谨的实验</a:t>
            </a:r>
            <a:endParaRPr lang="en-US" sz="3812" dirty="0"/>
          </a:p>
        </p:txBody>
      </p:sp>
      <p:sp>
        <p:nvSpPr>
          <p:cNvPr id="25" name="Text 16"/>
          <p:cNvSpPr/>
          <p:nvPr/>
        </p:nvSpPr>
        <p:spPr>
          <a:xfrm>
            <a:off x="7435850" y="3232150"/>
            <a:ext cx="93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436" b="1" dirty="0">
                <a:solidFill>
                  <a:srgbClr val="3837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不变的条件</a:t>
            </a:r>
            <a:endParaRPr lang="en-US" sz="1436" dirty="0"/>
          </a:p>
        </p:txBody>
      </p:sp>
      <p:sp>
        <p:nvSpPr>
          <p:cNvPr id="26" name="Text 17"/>
          <p:cNvSpPr/>
          <p:nvPr/>
        </p:nvSpPr>
        <p:spPr>
          <a:xfrm>
            <a:off x="5397500" y="3206750"/>
            <a:ext cx="92075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407" b="1" dirty="0">
                <a:solidFill>
                  <a:srgbClr val="3A39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改变的条件</a:t>
            </a:r>
            <a:endParaRPr lang="en-US" sz="1407" dirty="0"/>
          </a:p>
        </p:txBody>
      </p:sp>
      <p:sp>
        <p:nvSpPr>
          <p:cNvPr id="27" name="Text 18"/>
          <p:cNvSpPr/>
          <p:nvPr/>
        </p:nvSpPr>
        <p:spPr>
          <a:xfrm>
            <a:off x="1974850" y="3905250"/>
            <a:ext cx="3479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73"/>
              </a:lnSpc>
              <a:buNone/>
            </a:pPr>
            <a:r>
              <a:rPr lang="en-US" sz="1477" b="1" dirty="0">
                <a:solidFill>
                  <a:srgbClr val="413F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研究摆绳长短时，摆锤重量和幅度不能动</a:t>
            </a:r>
            <a:endParaRPr lang="en-US" sz="1477" dirty="0"/>
          </a:p>
        </p:txBody>
      </p:sp>
      <p:sp>
        <p:nvSpPr>
          <p:cNvPr id="28" name="Text 19"/>
          <p:cNvSpPr/>
          <p:nvPr/>
        </p:nvSpPr>
        <p:spPr>
          <a:xfrm>
            <a:off x="501650" y="1454150"/>
            <a:ext cx="4902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93"/>
              </a:lnSpc>
              <a:buNone/>
            </a:pPr>
            <a:r>
              <a:rPr lang="en-US" sz="3744" b="1" dirty="0">
                <a:solidFill>
                  <a:srgbClr val="242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每次只能改变一个变量</a:t>
            </a:r>
            <a:endParaRPr lang="en-US" sz="37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50" y="4686300"/>
            <a:ext cx="4229100" cy="317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0" y="4197350"/>
            <a:ext cx="2133600" cy="317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350" y="546100"/>
            <a:ext cx="3365500" cy="2247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0" y="2286000"/>
            <a:ext cx="825500" cy="2063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450" y="2305050"/>
            <a:ext cx="2292350" cy="21018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350" y="3886200"/>
            <a:ext cx="552450" cy="457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6900" y="3505200"/>
            <a:ext cx="1003300" cy="838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6200" y="0"/>
            <a:ext cx="1428750" cy="1365250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514350" y="3829050"/>
            <a:ext cx="1320800" cy="419100"/>
          </a:xfrm>
          <a:prstGeom prst="rect">
            <a:avLst/>
          </a:prstGeom>
          <a:solidFill>
            <a:srgbClr val="FDBC34"/>
          </a:solidFill>
          <a:ln w="6350">
            <a:solidFill>
              <a:srgbClr val="EFC44C"/>
            </a:solidFill>
            <a:prstDash val="solid"/>
          </a:ln>
        </p:spPr>
      </p:sp>
      <p:sp>
        <p:nvSpPr>
          <p:cNvPr id="12" name="Text 1"/>
          <p:cNvSpPr/>
          <p:nvPr/>
        </p:nvSpPr>
        <p:spPr>
          <a:xfrm>
            <a:off x="933450" y="3892550"/>
            <a:ext cx="5016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99"/>
              </a:lnSpc>
              <a:buNone/>
            </a:pPr>
            <a:r>
              <a:rPr lang="en-US" sz="1916" b="1" dirty="0">
                <a:solidFill>
                  <a:srgbClr val="3F33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</a:t>
            </a:r>
            <a:endParaRPr lang="en-US" sz="1916" dirty="0"/>
          </a:p>
        </p:txBody>
      </p:sp>
      <p:sp>
        <p:nvSpPr>
          <p:cNvPr id="13" name="Shape 2"/>
          <p:cNvSpPr/>
          <p:nvPr/>
        </p:nvSpPr>
        <p:spPr>
          <a:xfrm>
            <a:off x="514350" y="3194050"/>
            <a:ext cx="1320800" cy="425450"/>
          </a:xfrm>
          <a:prstGeom prst="rect">
            <a:avLst/>
          </a:prstGeom>
          <a:solidFill>
            <a:srgbClr val="614EEB"/>
          </a:solidFill>
          <a:ln w="6350">
            <a:solidFill>
              <a:srgbClr val="6A5BCE"/>
            </a:solidFill>
            <a:prstDash val="solid"/>
          </a:ln>
        </p:spPr>
      </p:sp>
      <p:sp>
        <p:nvSpPr>
          <p:cNvPr id="14" name="Text 3"/>
          <p:cNvSpPr/>
          <p:nvPr/>
        </p:nvSpPr>
        <p:spPr>
          <a:xfrm>
            <a:off x="933450" y="3257550"/>
            <a:ext cx="50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1941" b="1" dirty="0">
                <a:solidFill>
                  <a:srgbClr val="D7D0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判断</a:t>
            </a:r>
            <a:endParaRPr lang="en-US" sz="1941" dirty="0"/>
          </a:p>
        </p:txBody>
      </p:sp>
      <p:sp>
        <p:nvSpPr>
          <p:cNvPr id="15" name="Shape 4"/>
          <p:cNvSpPr/>
          <p:nvPr/>
        </p:nvSpPr>
        <p:spPr>
          <a:xfrm>
            <a:off x="514350" y="2559050"/>
            <a:ext cx="1320800" cy="425450"/>
          </a:xfrm>
          <a:prstGeom prst="rect">
            <a:avLst/>
          </a:prstGeom>
          <a:solidFill>
            <a:srgbClr val="D2F002"/>
          </a:solidFill>
          <a:ln w="6350">
            <a:solidFill>
              <a:srgbClr val="D8ED47"/>
            </a:solidFill>
            <a:prstDash val="solid"/>
          </a:ln>
        </p:spPr>
      </p:sp>
      <p:sp>
        <p:nvSpPr>
          <p:cNvPr id="16" name="Text 5"/>
          <p:cNvSpPr/>
          <p:nvPr/>
        </p:nvSpPr>
        <p:spPr>
          <a:xfrm>
            <a:off x="933450" y="2628900"/>
            <a:ext cx="5016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99"/>
              </a:lnSpc>
              <a:buNone/>
            </a:pPr>
            <a:r>
              <a:rPr lang="en-US" sz="1916" b="1" dirty="0">
                <a:solidFill>
                  <a:srgbClr val="3746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思考</a:t>
            </a:r>
            <a:endParaRPr lang="en-US" sz="1916" dirty="0"/>
          </a:p>
        </p:txBody>
      </p:sp>
      <p:sp>
        <p:nvSpPr>
          <p:cNvPr id="17" name="Shape 6"/>
          <p:cNvSpPr/>
          <p:nvPr/>
        </p:nvSpPr>
        <p:spPr>
          <a:xfrm>
            <a:off x="488950" y="450850"/>
            <a:ext cx="2374900" cy="323850"/>
          </a:xfrm>
          <a:prstGeom prst="rect">
            <a:avLst/>
          </a:prstGeom>
          <a:solidFill>
            <a:srgbClr val="18B7C7"/>
          </a:solidFill>
          <a:ln w="6350">
            <a:solidFill>
              <a:srgbClr val="4BB7C1"/>
            </a:solidFill>
            <a:prstDash val="solid"/>
          </a:ln>
        </p:spPr>
      </p:sp>
      <p:sp>
        <p:nvSpPr>
          <p:cNvPr id="18" name="Text 7"/>
          <p:cNvSpPr/>
          <p:nvPr/>
        </p:nvSpPr>
        <p:spPr>
          <a:xfrm>
            <a:off x="800100" y="50165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139" dirty="0">
                <a:solidFill>
                  <a:srgbClr val="A9E6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小学科学探究•反思与讨论</a:t>
            </a:r>
            <a:endParaRPr lang="en-US" sz="1139" dirty="0"/>
          </a:p>
        </p:txBody>
      </p:sp>
      <p:sp>
        <p:nvSpPr>
          <p:cNvPr id="19" name="Text 8"/>
          <p:cNvSpPr/>
          <p:nvPr/>
        </p:nvSpPr>
        <p:spPr>
          <a:xfrm>
            <a:off x="501650" y="4546600"/>
            <a:ext cx="19558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67" dirty="0">
                <a:solidFill>
                  <a:srgbClr val="94A0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小学科学·可视化探究课件模板</a:t>
            </a:r>
            <a:endParaRPr lang="en-US" sz="1067" dirty="0"/>
          </a:p>
        </p:txBody>
      </p:sp>
      <p:sp>
        <p:nvSpPr>
          <p:cNvPr id="20" name="Text 9"/>
          <p:cNvSpPr/>
          <p:nvPr/>
        </p:nvSpPr>
        <p:spPr>
          <a:xfrm>
            <a:off x="1968500" y="3905250"/>
            <a:ext cx="21463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8"/>
              </a:lnSpc>
              <a:buNone/>
            </a:pPr>
            <a:r>
              <a:rPr lang="en-US" sz="1490" b="1" dirty="0">
                <a:solidFill>
                  <a:srgbClr val="484C6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科学探究需要排除干扰项</a:t>
            </a:r>
            <a:endParaRPr lang="en-US" sz="1490" dirty="0"/>
          </a:p>
        </p:txBody>
      </p:sp>
      <p:sp>
        <p:nvSpPr>
          <p:cNvPr id="21" name="Text 10"/>
          <p:cNvSpPr/>
          <p:nvPr/>
        </p:nvSpPr>
        <p:spPr>
          <a:xfrm>
            <a:off x="5816600" y="1143000"/>
            <a:ext cx="22669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3713"/>
              </a:lnSpc>
              <a:buNone/>
            </a:pPr>
            <a:r>
              <a:rPr lang="en-US" sz="3463" b="1" dirty="0">
                <a:solidFill>
                  <a:srgbClr val="2222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我们的比较</a:t>
            </a:r>
            <a:endParaRPr lang="en-US" sz="3463" dirty="0"/>
          </a:p>
          <a:p>
            <a:pPr algn="r" indent="0" marL="0">
              <a:lnSpc>
                <a:spcPts val="3713"/>
              </a:lnSpc>
              <a:buNone/>
            </a:pPr>
            <a:r>
              <a:rPr lang="en-US" sz="3463" b="1" dirty="0">
                <a:solidFill>
                  <a:srgbClr val="2222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公平吗：</a:t>
            </a:r>
            <a:endParaRPr lang="en-US" sz="3463" dirty="0"/>
          </a:p>
        </p:txBody>
      </p:sp>
      <p:sp>
        <p:nvSpPr>
          <p:cNvPr id="22" name="Text 11"/>
          <p:cNvSpPr/>
          <p:nvPr/>
        </p:nvSpPr>
        <p:spPr>
          <a:xfrm>
            <a:off x="1968500" y="3257550"/>
            <a:ext cx="32004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6"/>
              </a:lnSpc>
              <a:buNone/>
            </a:pPr>
            <a:r>
              <a:rPr lang="en-US" sz="1438" b="1" dirty="0">
                <a:solidFill>
                  <a:srgbClr val="4145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我们的实验设计符合“公平原则”吗？</a:t>
            </a:r>
            <a:endParaRPr lang="en-US" sz="1438" dirty="0"/>
          </a:p>
        </p:txBody>
      </p:sp>
      <p:sp>
        <p:nvSpPr>
          <p:cNvPr id="23" name="Text 12"/>
          <p:cNvSpPr/>
          <p:nvPr/>
        </p:nvSpPr>
        <p:spPr>
          <a:xfrm>
            <a:off x="1968500" y="2628900"/>
            <a:ext cx="33718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7"/>
              </a:lnSpc>
              <a:buNone/>
            </a:pPr>
            <a:r>
              <a:rPr lang="en-US" sz="1431" b="1" dirty="0">
                <a:solidFill>
                  <a:srgbClr val="3E43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如果摆绳和摆锤一起换，能说明问题吗？</a:t>
            </a:r>
            <a:endParaRPr lang="en-US" sz="1431" dirty="0"/>
          </a:p>
        </p:txBody>
      </p:sp>
      <p:sp>
        <p:nvSpPr>
          <p:cNvPr id="24" name="Text 13"/>
          <p:cNvSpPr/>
          <p:nvPr/>
        </p:nvSpPr>
        <p:spPr>
          <a:xfrm>
            <a:off x="527050" y="2082800"/>
            <a:ext cx="36004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6"/>
              </a:lnSpc>
              <a:buNone/>
            </a:pPr>
            <a:r>
              <a:rPr lang="en-US" sz="1022" dirty="0">
                <a:solidFill>
                  <a:srgbClr val="62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EXPLORATION·REFLECT·CONTROLS·FAIRNESS</a:t>
            </a:r>
            <a:endParaRPr lang="en-US" sz="1022" dirty="0"/>
          </a:p>
        </p:txBody>
      </p:sp>
      <p:sp>
        <p:nvSpPr>
          <p:cNvPr id="25" name="Text 14"/>
          <p:cNvSpPr/>
          <p:nvPr/>
        </p:nvSpPr>
        <p:spPr>
          <a:xfrm>
            <a:off x="508000" y="1466850"/>
            <a:ext cx="400685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91"/>
              </a:lnSpc>
              <a:buNone/>
            </a:pPr>
            <a:r>
              <a:rPr lang="en-US" sz="3826" b="1" dirty="0">
                <a:solidFill>
                  <a:srgbClr val="2731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的方案才足够公平</a:t>
            </a:r>
            <a:endParaRPr lang="en-US" sz="3826" dirty="0"/>
          </a:p>
        </p:txBody>
      </p:sp>
      <p:sp>
        <p:nvSpPr>
          <p:cNvPr id="26" name="Text 15"/>
          <p:cNvSpPr/>
          <p:nvPr/>
        </p:nvSpPr>
        <p:spPr>
          <a:xfrm>
            <a:off x="488950" y="876300"/>
            <a:ext cx="4032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19"/>
              </a:lnSpc>
              <a:buNone/>
            </a:pPr>
            <a:r>
              <a:rPr lang="en-US" sz="3849" b="1" dirty="0">
                <a:solidFill>
                  <a:srgbClr val="2C35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只有严格控制变量</a:t>
            </a:r>
            <a:endParaRPr lang="en-US" sz="384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900" y="4089400"/>
            <a:ext cx="190500" cy="190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99000" y="3308350"/>
            <a:ext cx="3930650" cy="1365250"/>
          </a:xfrm>
          <a:prstGeom prst="rect">
            <a:avLst/>
          </a:prstGeom>
          <a:solidFill>
            <a:srgbClr val="F2F9C8"/>
          </a:solidFill>
          <a:ln w="50800">
            <a:solidFill>
              <a:srgbClr val="F3D8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94500" y="3467100"/>
            <a:ext cx="1416050" cy="361950"/>
          </a:xfrm>
          <a:prstGeom prst="rect">
            <a:avLst/>
          </a:prstGeom>
          <a:solidFill>
            <a:srgbClr val="C6EA0B"/>
          </a:solidFill>
          <a:ln w="6350">
            <a:solidFill>
              <a:srgbClr val="CFE9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7400" y="3492500"/>
            <a:ext cx="7683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7"/>
              </a:lnSpc>
              <a:buNone/>
            </a:pPr>
            <a:r>
              <a:rPr lang="en-US" sz="1956" b="1" dirty="0">
                <a:solidFill>
                  <a:srgbClr val="2C37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观察员</a:t>
            </a:r>
            <a:endParaRPr lang="en-US" sz="1956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3251200"/>
            <a:ext cx="1289050" cy="14033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5150" y="4216400"/>
            <a:ext cx="152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2380" b="1" dirty="0">
                <a:solidFill>
                  <a:srgbClr val="3D3E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2380" dirty="0"/>
          </a:p>
        </p:txBody>
      </p:sp>
      <p:sp>
        <p:nvSpPr>
          <p:cNvPr id="9" name="Text 5"/>
          <p:cNvSpPr/>
          <p:nvPr/>
        </p:nvSpPr>
        <p:spPr>
          <a:xfrm>
            <a:off x="6788150" y="4203700"/>
            <a:ext cx="1314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6"/>
              </a:lnSpc>
              <a:buNone/>
            </a:pPr>
            <a:r>
              <a:rPr lang="en-US" sz="1747" b="1" dirty="0">
                <a:solidFill>
                  <a:srgbClr val="4077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(公平的判官!</a:t>
            </a:r>
            <a:endParaRPr lang="en-US" sz="1747" dirty="0"/>
          </a:p>
        </p:txBody>
      </p:sp>
      <p:sp>
        <p:nvSpPr>
          <p:cNvPr id="10" name="Text 6"/>
          <p:cNvSpPr/>
          <p:nvPr/>
        </p:nvSpPr>
        <p:spPr>
          <a:xfrm>
            <a:off x="6648450" y="3892550"/>
            <a:ext cx="17589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679" b="1" dirty="0">
                <a:solidFill>
                  <a:srgbClr val="3435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负责数次数和监督</a:t>
            </a:r>
            <a:endParaRPr lang="en-US" sz="1679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750" y="4572000"/>
            <a:ext cx="730250" cy="571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01650" y="3308350"/>
            <a:ext cx="3930650" cy="1365250"/>
          </a:xfrm>
          <a:prstGeom prst="rect">
            <a:avLst/>
          </a:prstGeom>
          <a:solidFill>
            <a:srgbClr val="E0F2FE"/>
          </a:solidFill>
          <a:ln w="44450">
            <a:solidFill>
              <a:srgbClr val="439CE9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641600" y="3467100"/>
            <a:ext cx="1422400" cy="361950"/>
          </a:xfrm>
          <a:prstGeom prst="rect">
            <a:avLst/>
          </a:prstGeom>
          <a:solidFill>
            <a:srgbClr val="FBBA36"/>
          </a:solidFill>
          <a:ln w="6350">
            <a:solidFill>
              <a:srgbClr val="ECC36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984500" y="3492500"/>
            <a:ext cx="7620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8"/>
              </a:lnSpc>
              <a:buNone/>
            </a:pPr>
            <a:r>
              <a:rPr lang="en-US" sz="1940" b="1" dirty="0">
                <a:solidFill>
                  <a:srgbClr val="3C280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记录员</a:t>
            </a:r>
            <a:endParaRPr lang="en-US" sz="194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3244850"/>
            <a:ext cx="1371600" cy="14351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38600" y="4222750"/>
            <a:ext cx="1270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38"/>
              </a:lnSpc>
              <a:buNone/>
            </a:pPr>
            <a:r>
              <a:rPr lang="en-US" sz="2365" b="1" dirty="0">
                <a:solidFill>
                  <a:srgbClr val="2F3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2365" dirty="0"/>
          </a:p>
        </p:txBody>
      </p:sp>
      <p:sp>
        <p:nvSpPr>
          <p:cNvPr id="17" name="Text 11"/>
          <p:cNvSpPr/>
          <p:nvPr/>
        </p:nvSpPr>
        <p:spPr>
          <a:xfrm>
            <a:off x="2749550" y="4210050"/>
            <a:ext cx="12001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33" b="1" dirty="0">
                <a:solidFill>
                  <a:srgbClr val="DE914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字迹要工整</a:t>
            </a:r>
            <a:endParaRPr lang="en-US" sz="1833" dirty="0"/>
          </a:p>
        </p:txBody>
      </p:sp>
      <p:sp>
        <p:nvSpPr>
          <p:cNvPr id="18" name="Text 12"/>
          <p:cNvSpPr/>
          <p:nvPr/>
        </p:nvSpPr>
        <p:spPr>
          <a:xfrm>
            <a:off x="2647950" y="4222750"/>
            <a:ext cx="952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16"/>
              </a:lnSpc>
              <a:buNone/>
            </a:pPr>
            <a:r>
              <a:rPr lang="en-US" sz="1930" b="1" dirty="0">
                <a:solidFill>
                  <a:srgbClr val="31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endParaRPr lang="en-US" sz="1930" dirty="0"/>
          </a:p>
        </p:txBody>
      </p:sp>
      <p:sp>
        <p:nvSpPr>
          <p:cNvPr id="19" name="Text 13"/>
          <p:cNvSpPr/>
          <p:nvPr/>
        </p:nvSpPr>
        <p:spPr>
          <a:xfrm>
            <a:off x="2705100" y="38989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7"/>
              </a:lnSpc>
              <a:buNone/>
            </a:pPr>
            <a:r>
              <a:rPr lang="en-US" sz="1697" b="1" dirty="0">
                <a:solidFill>
                  <a:srgbClr val="3033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负责数据登记</a:t>
            </a:r>
            <a:endParaRPr lang="en-US" sz="1697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08500"/>
            <a:ext cx="742950" cy="6350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900" y="3003550"/>
            <a:ext cx="190500" cy="19050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" y="2832100"/>
            <a:ext cx="393700" cy="121920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" y="4025900"/>
            <a:ext cx="133350" cy="13335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5850" y="1562100"/>
            <a:ext cx="260350" cy="125095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8483600" y="1346200"/>
            <a:ext cx="234950" cy="234950"/>
          </a:xfrm>
          <a:prstGeom prst="rect">
            <a:avLst/>
          </a:prstGeom>
          <a:solidFill>
            <a:srgbClr val="FE5B68"/>
          </a:solidFill>
          <a:ln w="6350">
            <a:solidFill>
              <a:srgbClr val="F99BA3"/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4692650" y="1809750"/>
            <a:ext cx="3956050" cy="1346200"/>
          </a:xfrm>
          <a:prstGeom prst="rect">
            <a:avLst/>
          </a:prstGeom>
          <a:solidFill>
            <a:srgbClr val="E8E4FD"/>
          </a:solidFill>
          <a:ln w="44450">
            <a:solidFill>
              <a:srgbClr val="7969D8"/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6800850" y="1974850"/>
            <a:ext cx="1409700" cy="361950"/>
          </a:xfrm>
          <a:prstGeom prst="rect">
            <a:avLst/>
          </a:prstGeom>
          <a:solidFill>
            <a:srgbClr val="634FEA"/>
          </a:solidFill>
          <a:ln w="6350">
            <a:solidFill>
              <a:srgbClr val="7565D8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7137400" y="2000250"/>
            <a:ext cx="768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7"/>
              </a:lnSpc>
              <a:buNone/>
            </a:pPr>
            <a:r>
              <a:rPr lang="en-US" sz="1956" b="1" dirty="0">
                <a:solidFill>
                  <a:srgbClr val="DDD7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计时员</a:t>
            </a:r>
            <a:endParaRPr lang="en-US" sz="1956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8400" y="1733550"/>
            <a:ext cx="1466850" cy="133985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8197850" y="2711450"/>
            <a:ext cx="133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2380" b="1" dirty="0">
                <a:solidFill>
                  <a:srgbClr val="3C38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2380" dirty="0"/>
          </a:p>
        </p:txBody>
      </p:sp>
      <p:sp>
        <p:nvSpPr>
          <p:cNvPr id="31" name="Text 19"/>
          <p:cNvSpPr/>
          <p:nvPr/>
        </p:nvSpPr>
        <p:spPr>
          <a:xfrm>
            <a:off x="6826250" y="2705100"/>
            <a:ext cx="12890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407" b="1" dirty="0">
                <a:solidFill>
                  <a:srgbClr val="AC4D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（眼睛盯着表！</a:t>
            </a:r>
            <a:endParaRPr lang="en-US" sz="1407" dirty="0"/>
          </a:p>
        </p:txBody>
      </p:sp>
      <p:sp>
        <p:nvSpPr>
          <p:cNvPr id="32" name="Text 20"/>
          <p:cNvSpPr/>
          <p:nvPr/>
        </p:nvSpPr>
        <p:spPr>
          <a:xfrm>
            <a:off x="6718300" y="2393950"/>
            <a:ext cx="161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716" b="1" dirty="0">
                <a:solidFill>
                  <a:srgbClr val="302C3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负责30秒倒计时</a:t>
            </a:r>
            <a:endParaRPr lang="en-US" sz="1716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850" y="2654300"/>
            <a:ext cx="171450" cy="165100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234950" y="2406650"/>
            <a:ext cx="57150" cy="234950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750" y="2203450"/>
            <a:ext cx="190500" cy="184150"/>
          </a:xfrm>
          <a:prstGeom prst="rect">
            <a:avLst/>
          </a:prstGeom>
        </p:spPr>
      </p:pic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1650" y="1809750"/>
            <a:ext cx="3937000" cy="1358900"/>
          </a:xfrm>
          <a:prstGeom prst="rect">
            <a:avLst/>
          </a:prstGeom>
        </p:spPr>
      </p:pic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0" y="2895600"/>
            <a:ext cx="44450" cy="63500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2641600" y="1974850"/>
            <a:ext cx="1416050" cy="361950"/>
          </a:xfrm>
          <a:prstGeom prst="rect">
            <a:avLst/>
          </a:prstGeom>
          <a:solidFill>
            <a:srgbClr val="0185F4"/>
          </a:solidFill>
          <a:ln w="6350">
            <a:solidFill>
              <a:srgbClr val="2B8BD5"/>
            </a:solidFill>
            <a:prstDash val="solid"/>
          </a:ln>
        </p:spPr>
      </p:sp>
      <p:sp>
        <p:nvSpPr>
          <p:cNvPr id="39" name="Text 23"/>
          <p:cNvSpPr/>
          <p:nvPr/>
        </p:nvSpPr>
        <p:spPr>
          <a:xfrm>
            <a:off x="2984500" y="2006600"/>
            <a:ext cx="768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7"/>
              </a:lnSpc>
              <a:buNone/>
            </a:pPr>
            <a:r>
              <a:rPr lang="en-US" sz="1956" b="1" dirty="0">
                <a:solidFill>
                  <a:srgbClr val="C0E4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操作员</a:t>
            </a:r>
            <a:endParaRPr lang="en-US" sz="1956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1758950"/>
            <a:ext cx="1708150" cy="130810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4032250" y="2724150"/>
            <a:ext cx="12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42"/>
              </a:lnSpc>
              <a:buNone/>
            </a:pPr>
            <a:r>
              <a:rPr lang="en-US" sz="2285" b="1" dirty="0">
                <a:solidFill>
                  <a:srgbClr val="3535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2285" dirty="0"/>
          </a:p>
        </p:txBody>
      </p:sp>
      <p:sp>
        <p:nvSpPr>
          <p:cNvPr id="42" name="Text 25"/>
          <p:cNvSpPr/>
          <p:nvPr/>
        </p:nvSpPr>
        <p:spPr>
          <a:xfrm>
            <a:off x="3384550" y="2705100"/>
            <a:ext cx="552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407" b="1" dirty="0">
                <a:solidFill>
                  <a:srgbClr val="3D94D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别推！</a:t>
            </a:r>
            <a:endParaRPr lang="en-US" sz="1407" dirty="0"/>
          </a:p>
        </p:txBody>
      </p:sp>
      <p:sp>
        <p:nvSpPr>
          <p:cNvPr id="43" name="Text 26"/>
          <p:cNvSpPr/>
          <p:nvPr/>
        </p:nvSpPr>
        <p:spPr>
          <a:xfrm>
            <a:off x="2730500" y="2705100"/>
            <a:ext cx="438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8"/>
              </a:lnSpc>
              <a:buNone/>
            </a:pPr>
            <a:r>
              <a:rPr lang="en-US" sz="1673" b="1" dirty="0">
                <a:solidFill>
                  <a:srgbClr val="E6943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稳住</a:t>
            </a:r>
            <a:endParaRPr lang="en-US" sz="1673" dirty="0"/>
          </a:p>
        </p:txBody>
      </p:sp>
      <p:sp>
        <p:nvSpPr>
          <p:cNvPr id="44" name="Text 27"/>
          <p:cNvSpPr/>
          <p:nvPr/>
        </p:nvSpPr>
        <p:spPr>
          <a:xfrm>
            <a:off x="2641600" y="2724150"/>
            <a:ext cx="889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2"/>
              </a:lnSpc>
              <a:buNone/>
            </a:pPr>
            <a:r>
              <a:rPr lang="en-US" sz="1802" b="1" dirty="0">
                <a:solidFill>
                  <a:srgbClr val="3B3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endParaRPr lang="en-US" sz="1802" dirty="0"/>
          </a:p>
        </p:txBody>
      </p:sp>
      <p:sp>
        <p:nvSpPr>
          <p:cNvPr id="45" name="Text 28"/>
          <p:cNvSpPr/>
          <p:nvPr/>
        </p:nvSpPr>
        <p:spPr>
          <a:xfrm>
            <a:off x="2711450" y="2400300"/>
            <a:ext cx="1333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7"/>
              </a:lnSpc>
              <a:buNone/>
            </a:pPr>
            <a:r>
              <a:rPr lang="en-US" sz="1698" b="1" dirty="0">
                <a:solidFill>
                  <a:srgbClr val="3231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负责摆的释放</a:t>
            </a:r>
            <a:endParaRPr lang="en-US" sz="1698" dirty="0"/>
          </a:p>
        </p:txBody>
      </p:sp>
      <p:sp>
        <p:nvSpPr>
          <p:cNvPr id="46" name="Shape 29"/>
          <p:cNvSpPr/>
          <p:nvPr/>
        </p:nvSpPr>
        <p:spPr>
          <a:xfrm>
            <a:off x="488950" y="1409700"/>
            <a:ext cx="3321050" cy="279400"/>
          </a:xfrm>
          <a:prstGeom prst="rect">
            <a:avLst/>
          </a:prstGeom>
          <a:solidFill>
            <a:srgbClr val="FAB731"/>
          </a:solidFill>
          <a:ln w="6350">
            <a:solidFill>
              <a:srgbClr val="EFBD5A"/>
            </a:solidFill>
            <a:prstDash val="solid"/>
          </a:ln>
        </p:spPr>
      </p:sp>
      <p:sp>
        <p:nvSpPr>
          <p:cNvPr id="47" name="Text 30"/>
          <p:cNvSpPr/>
          <p:nvPr/>
        </p:nvSpPr>
        <p:spPr>
          <a:xfrm>
            <a:off x="635000" y="1428750"/>
            <a:ext cx="30162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7"/>
              </a:lnSpc>
              <a:buNone/>
            </a:pPr>
            <a:r>
              <a:rPr lang="en-US" sz="1280" b="1" dirty="0">
                <a:solidFill>
                  <a:srgbClr val="4F34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任务小提示：每轮实验记得交换角色哦！</a:t>
            </a:r>
            <a:endParaRPr lang="en-US" sz="1280" dirty="0"/>
          </a:p>
        </p:txBody>
      </p:sp>
      <p:sp>
        <p:nvSpPr>
          <p:cNvPr id="48" name="Shape 31"/>
          <p:cNvSpPr/>
          <p:nvPr/>
        </p:nvSpPr>
        <p:spPr>
          <a:xfrm>
            <a:off x="7696200" y="419100"/>
            <a:ext cx="247650" cy="247650"/>
          </a:xfrm>
          <a:prstGeom prst="rect">
            <a:avLst/>
          </a:prstGeom>
          <a:solidFill>
            <a:srgbClr val="007FF0"/>
          </a:solidFill>
          <a:ln w="6350">
            <a:solidFill>
              <a:srgbClr val="2282EA"/>
            </a:solidFill>
            <a:prstDash val="solid"/>
          </a:ln>
        </p:spPr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51800" y="0"/>
            <a:ext cx="1092200" cy="1162050"/>
          </a:xfrm>
          <a:prstGeom prst="rect">
            <a:avLst/>
          </a:prstGeom>
        </p:spPr>
      </p:pic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1800" y="762000"/>
            <a:ext cx="146050" cy="146050"/>
          </a:xfrm>
          <a:prstGeom prst="rect">
            <a:avLst/>
          </a:prstGeom>
        </p:spPr>
      </p:pic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23100" y="387350"/>
            <a:ext cx="171450" cy="177800"/>
          </a:xfrm>
          <a:prstGeom prst="rect">
            <a:avLst/>
          </a:prstGeom>
        </p:spPr>
      </p:pic>
      <p:sp>
        <p:nvSpPr>
          <p:cNvPr id="52" name="Shape 32"/>
          <p:cNvSpPr/>
          <p:nvPr/>
        </p:nvSpPr>
        <p:spPr>
          <a:xfrm>
            <a:off x="488950" y="450850"/>
            <a:ext cx="1441450" cy="323850"/>
          </a:xfrm>
          <a:prstGeom prst="rect">
            <a:avLst/>
          </a:prstGeom>
          <a:solidFill>
            <a:srgbClr val="13B8CA"/>
          </a:solidFill>
          <a:ln w="6350">
            <a:solidFill>
              <a:srgbClr val="47B9C3"/>
            </a:solidFill>
            <a:prstDash val="solid"/>
          </a:ln>
        </p:spPr>
      </p:sp>
      <p:sp>
        <p:nvSpPr>
          <p:cNvPr id="53" name="Text 33"/>
          <p:cNvSpPr/>
          <p:nvPr/>
        </p:nvSpPr>
        <p:spPr>
          <a:xfrm>
            <a:off x="800100" y="527050"/>
            <a:ext cx="84455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1076" dirty="0">
                <a:solidFill>
                  <a:srgbClr val="A5E9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小学科学探究</a:t>
            </a:r>
            <a:endParaRPr lang="en-US" sz="1076" dirty="0"/>
          </a:p>
        </p:txBody>
      </p:sp>
      <p:sp>
        <p:nvSpPr>
          <p:cNvPr id="54" name="Text 34"/>
          <p:cNvSpPr/>
          <p:nvPr/>
        </p:nvSpPr>
        <p:spPr>
          <a:xfrm>
            <a:off x="495300" y="844550"/>
            <a:ext cx="706755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049"/>
              </a:lnSpc>
              <a:buNone/>
            </a:pPr>
            <a:r>
              <a:rPr lang="en-US" sz="3374" b="1" dirty="0">
                <a:solidFill>
                  <a:srgbClr val="3239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特工小队通过明确分工提高实验效率</a:t>
            </a:r>
            <a:endParaRPr lang="en-US" sz="33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F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2228850"/>
            <a:ext cx="8166100" cy="444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0" y="2400300"/>
            <a:ext cx="4356100" cy="23431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0" y="4191000"/>
            <a:ext cx="501650" cy="4000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25850"/>
            <a:ext cx="127000" cy="36195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550" y="3873500"/>
            <a:ext cx="279400" cy="27305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00" y="3670300"/>
            <a:ext cx="381000" cy="29210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7250" y="3962400"/>
            <a:ext cx="831850" cy="75565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2489200"/>
            <a:ext cx="2851150" cy="171450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8950" y="4025900"/>
            <a:ext cx="311150" cy="24765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9750" y="3225800"/>
            <a:ext cx="590550" cy="558800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2673350"/>
            <a:ext cx="3721100" cy="213995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3550" y="2736850"/>
            <a:ext cx="1162050" cy="2038350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3581400"/>
            <a:ext cx="1631950" cy="1555750"/>
          </a:xfrm>
          <a:prstGeom prst="rect">
            <a:avLst/>
          </a:prstGeom>
        </p:spPr>
      </p:pic>
      <p:sp>
        <p:nvSpPr>
          <p:cNvPr id="16" name="Shape 1"/>
          <p:cNvSpPr/>
          <p:nvPr/>
        </p:nvSpPr>
        <p:spPr>
          <a:xfrm>
            <a:off x="6064250" y="1638300"/>
            <a:ext cx="1200150" cy="450850"/>
          </a:xfrm>
          <a:prstGeom prst="rect">
            <a:avLst/>
          </a:prstGeom>
          <a:solidFill>
            <a:srgbClr val="FDCC05"/>
          </a:solidFill>
          <a:ln w="6350">
            <a:solidFill>
              <a:srgbClr val="F4D778"/>
            </a:solidFill>
            <a:prstDash val="solid"/>
          </a:ln>
        </p:spPr>
      </p:sp>
      <p:sp>
        <p:nvSpPr>
          <p:cNvPr id="17" name="Text 2"/>
          <p:cNvSpPr/>
          <p:nvPr/>
        </p:nvSpPr>
        <p:spPr>
          <a:xfrm>
            <a:off x="6254750" y="1701800"/>
            <a:ext cx="79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516" b="1" dirty="0">
                <a:solidFill>
                  <a:srgbClr val="4A3E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开始信号</a:t>
            </a:r>
            <a:endParaRPr lang="en-US" sz="1516" dirty="0"/>
          </a:p>
        </p:txBody>
      </p:sp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76600" y="1638300"/>
            <a:ext cx="1206500" cy="45085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3473450" y="170815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528" b="1" dirty="0">
                <a:solidFill>
                  <a:srgbClr val="D8D0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计数标准</a:t>
            </a:r>
            <a:endParaRPr lang="en-US" sz="1528" dirty="0"/>
          </a:p>
        </p:txBody>
      </p:sp>
      <p:sp>
        <p:nvSpPr>
          <p:cNvPr id="20" name="Shape 4"/>
          <p:cNvSpPr/>
          <p:nvPr/>
        </p:nvSpPr>
        <p:spPr>
          <a:xfrm>
            <a:off x="488950" y="1638300"/>
            <a:ext cx="1206500" cy="450850"/>
          </a:xfrm>
          <a:prstGeom prst="rect">
            <a:avLst/>
          </a:prstGeom>
          <a:solidFill>
            <a:srgbClr val="BAE305"/>
          </a:solidFill>
          <a:ln w="12700">
            <a:solidFill>
              <a:srgbClr val="C7E27F"/>
            </a:solidFill>
            <a:prstDash val="solid"/>
          </a:ln>
        </p:spPr>
      </p:sp>
      <p:sp>
        <p:nvSpPr>
          <p:cNvPr id="21" name="Text 5"/>
          <p:cNvSpPr/>
          <p:nvPr/>
        </p:nvSpPr>
        <p:spPr>
          <a:xfrm>
            <a:off x="704850" y="1708150"/>
            <a:ext cx="78105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492" b="1" dirty="0">
                <a:solidFill>
                  <a:srgbClr val="3246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自然释放</a:t>
            </a:r>
            <a:endParaRPr lang="en-US" sz="1492" dirty="0"/>
          </a:p>
        </p:txBody>
      </p:sp>
      <p:pic>
        <p:nvPicPr>
          <p:cNvPr id="2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47000" y="0"/>
            <a:ext cx="1371600" cy="1358900"/>
          </a:xfrm>
          <a:prstGeom prst="rect">
            <a:avLst/>
          </a:prstGeom>
        </p:spPr>
      </p:pic>
      <p:sp>
        <p:nvSpPr>
          <p:cNvPr id="23" name="Shape 6"/>
          <p:cNvSpPr/>
          <p:nvPr/>
        </p:nvSpPr>
        <p:spPr>
          <a:xfrm>
            <a:off x="488950" y="450850"/>
            <a:ext cx="1441450" cy="323850"/>
          </a:xfrm>
          <a:prstGeom prst="rect">
            <a:avLst/>
          </a:prstGeom>
          <a:solidFill>
            <a:srgbClr val="16B6C6"/>
          </a:solidFill>
          <a:ln w="6350">
            <a:solidFill>
              <a:srgbClr val="4EBAC4"/>
            </a:solidFill>
            <a:prstDash val="solid"/>
          </a:ln>
        </p:spPr>
      </p:sp>
      <p:sp>
        <p:nvSpPr>
          <p:cNvPr id="24" name="Text 7"/>
          <p:cNvSpPr/>
          <p:nvPr/>
        </p:nvSpPr>
        <p:spPr>
          <a:xfrm>
            <a:off x="844550" y="488950"/>
            <a:ext cx="768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467" b="1" dirty="0">
                <a:solidFill>
                  <a:srgbClr val="B2E8E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科学探究</a:t>
            </a:r>
            <a:endParaRPr lang="en-US" sz="1467" dirty="0"/>
          </a:p>
        </p:txBody>
      </p:sp>
      <p:sp>
        <p:nvSpPr>
          <p:cNvPr id="25" name="Text 8"/>
          <p:cNvSpPr/>
          <p:nvPr/>
        </p:nvSpPr>
        <p:spPr>
          <a:xfrm>
            <a:off x="4997450" y="4311650"/>
            <a:ext cx="1784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46"/>
              </a:lnSpc>
              <a:buNone/>
            </a:pPr>
            <a:r>
              <a:rPr lang="en-US" sz="2205" b="1" dirty="0">
                <a:solidFill>
                  <a:srgbClr val="30375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往返一周=1次</a:t>
            </a:r>
            <a:endParaRPr lang="en-US" sz="2205" dirty="0"/>
          </a:p>
        </p:txBody>
      </p:sp>
      <p:sp>
        <p:nvSpPr>
          <p:cNvPr id="26" name="Text 9"/>
          <p:cNvSpPr/>
          <p:nvPr/>
        </p:nvSpPr>
        <p:spPr>
          <a:xfrm>
            <a:off x="6343650" y="3384550"/>
            <a:ext cx="317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11"/>
              </a:lnSpc>
              <a:buNone/>
            </a:pPr>
            <a:r>
              <a:rPr lang="en-US" sz="2425" b="1" dirty="0">
                <a:solidFill>
                  <a:srgbClr val="3B40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返</a:t>
            </a:r>
            <a:endParaRPr lang="en-US" sz="2425" dirty="0"/>
          </a:p>
        </p:txBody>
      </p:sp>
      <p:sp>
        <p:nvSpPr>
          <p:cNvPr id="27" name="Text 10"/>
          <p:cNvSpPr/>
          <p:nvPr/>
        </p:nvSpPr>
        <p:spPr>
          <a:xfrm>
            <a:off x="5168900" y="3390900"/>
            <a:ext cx="3111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3"/>
              </a:lnSpc>
              <a:buNone/>
            </a:pPr>
            <a:r>
              <a:rPr lang="en-US" sz="2377" b="1" dirty="0">
                <a:solidFill>
                  <a:srgbClr val="3238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往</a:t>
            </a:r>
            <a:endParaRPr lang="en-US" sz="2377" dirty="0"/>
          </a:p>
        </p:txBody>
      </p:sp>
      <p:sp>
        <p:nvSpPr>
          <p:cNvPr id="28" name="Text 11"/>
          <p:cNvSpPr/>
          <p:nvPr/>
        </p:nvSpPr>
        <p:spPr>
          <a:xfrm>
            <a:off x="501650" y="4565650"/>
            <a:ext cx="1955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67" dirty="0">
                <a:solidFill>
                  <a:srgbClr val="939F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小学科学·可视化探究课件模板</a:t>
            </a:r>
            <a:endParaRPr lang="en-US" sz="1067" dirty="0"/>
          </a:p>
        </p:txBody>
      </p:sp>
      <p:sp>
        <p:nvSpPr>
          <p:cNvPr id="29" name="Text 12"/>
          <p:cNvSpPr/>
          <p:nvPr/>
        </p:nvSpPr>
        <p:spPr>
          <a:xfrm>
            <a:off x="958850" y="2984500"/>
            <a:ext cx="17208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3"/>
              </a:lnSpc>
              <a:buNone/>
            </a:pPr>
            <a:r>
              <a:rPr lang="en-US" sz="1461" b="1" dirty="0">
                <a:solidFill>
                  <a:srgbClr val="EDC44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自然释放（手松开）</a:t>
            </a:r>
            <a:endParaRPr lang="en-US" sz="1461" dirty="0"/>
          </a:p>
        </p:txBody>
      </p:sp>
      <p:sp>
        <p:nvSpPr>
          <p:cNvPr id="30" name="Text 13"/>
          <p:cNvSpPr/>
          <p:nvPr/>
        </p:nvSpPr>
        <p:spPr>
          <a:xfrm>
            <a:off x="527050" y="2374900"/>
            <a:ext cx="341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7"/>
              </a:lnSpc>
              <a:buNone/>
            </a:pPr>
            <a:r>
              <a:rPr lang="en-US" sz="1631" b="1" dirty="0">
                <a:solidFill>
                  <a:srgbClr val="3A3D5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操作示意图：单摆往返运动计数方法</a:t>
            </a:r>
            <a:endParaRPr lang="en-US" sz="1631" dirty="0"/>
          </a:p>
        </p:txBody>
      </p:sp>
      <p:sp>
        <p:nvSpPr>
          <p:cNvPr id="31" name="Text 14"/>
          <p:cNvSpPr/>
          <p:nvPr/>
        </p:nvSpPr>
        <p:spPr>
          <a:xfrm>
            <a:off x="7321550" y="1593850"/>
            <a:ext cx="1365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86"/>
              </a:lnSpc>
              <a:buNone/>
            </a:pPr>
            <a:r>
              <a:rPr lang="en-US" sz="1490" b="1" dirty="0">
                <a:solidFill>
                  <a:srgbClr val="3E40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计时员和操作员</a:t>
            </a:r>
            <a:endParaRPr lang="en-US" sz="1490" dirty="0"/>
          </a:p>
          <a:p>
            <a:pPr algn="l" indent="0" marL="0">
              <a:lnSpc>
                <a:spcPts val="1886"/>
              </a:lnSpc>
              <a:buNone/>
            </a:pPr>
            <a:r>
              <a:rPr lang="en-US" sz="1490" b="1" dirty="0">
                <a:solidFill>
                  <a:srgbClr val="3E40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要默契配合</a:t>
            </a:r>
            <a:endParaRPr lang="en-US" sz="1490" dirty="0"/>
          </a:p>
        </p:txBody>
      </p:sp>
      <p:sp>
        <p:nvSpPr>
          <p:cNvPr id="32" name="Text 15"/>
          <p:cNvSpPr/>
          <p:nvPr/>
        </p:nvSpPr>
        <p:spPr>
          <a:xfrm>
            <a:off x="4540250" y="1587500"/>
            <a:ext cx="117475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1"/>
              </a:lnSpc>
              <a:buNone/>
            </a:pPr>
            <a:r>
              <a:rPr lang="en-US" sz="1496" b="1" dirty="0">
                <a:solidFill>
                  <a:srgbClr val="383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往返一次计为</a:t>
            </a:r>
            <a:endParaRPr lang="en-US" sz="1496" dirty="0"/>
          </a:p>
          <a:p>
            <a:pPr algn="l" indent="0" marL="0">
              <a:lnSpc>
                <a:spcPts val="1921"/>
              </a:lnSpc>
              <a:buNone/>
            </a:pPr>
            <a:r>
              <a:rPr lang="en-US" sz="1496" b="1" dirty="0">
                <a:solidFill>
                  <a:srgbClr val="383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“1次”</a:t>
            </a:r>
            <a:endParaRPr lang="en-US" sz="1496" dirty="0"/>
          </a:p>
        </p:txBody>
      </p:sp>
      <p:sp>
        <p:nvSpPr>
          <p:cNvPr id="33" name="Text 16"/>
          <p:cNvSpPr/>
          <p:nvPr/>
        </p:nvSpPr>
        <p:spPr>
          <a:xfrm>
            <a:off x="1752600" y="1593850"/>
            <a:ext cx="127635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36"/>
              </a:lnSpc>
              <a:buNone/>
            </a:pPr>
            <a:r>
              <a:rPr lang="en-US" sz="1393" b="1" dirty="0">
                <a:solidFill>
                  <a:srgbClr val="3C3F5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手轻轻松开，</a:t>
            </a:r>
            <a:endParaRPr lang="en-US" sz="1393" dirty="0"/>
          </a:p>
          <a:p>
            <a:pPr algn="l" indent="0" marL="0">
              <a:lnSpc>
                <a:spcPts val="1936"/>
              </a:lnSpc>
              <a:buNone/>
            </a:pPr>
            <a:r>
              <a:rPr lang="en-US" sz="1393" b="1" dirty="0">
                <a:solidFill>
                  <a:srgbClr val="3C3F5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严禁“推一把”</a:t>
            </a:r>
            <a:endParaRPr lang="en-US" sz="1393" dirty="0"/>
          </a:p>
        </p:txBody>
      </p:sp>
      <p:sp>
        <p:nvSpPr>
          <p:cNvPr id="34" name="Text 17"/>
          <p:cNvSpPr/>
          <p:nvPr/>
        </p:nvSpPr>
        <p:spPr>
          <a:xfrm>
            <a:off x="495300" y="869950"/>
            <a:ext cx="711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49"/>
              </a:lnSpc>
              <a:buNone/>
            </a:pPr>
            <a:r>
              <a:rPr lang="en-US" sz="3625" b="1" dirty="0">
                <a:solidFill>
                  <a:srgbClr val="232C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规范的操作是获取准确数据的前提</a:t>
            </a:r>
            <a:endParaRPr lang="en-US" sz="3625" dirty="0"/>
          </a:p>
        </p:txBody>
      </p:sp>
      <p:sp>
        <p:nvSpPr>
          <p:cNvPr id="35" name="Text 18"/>
          <p:cNvSpPr/>
          <p:nvPr/>
        </p:nvSpPr>
        <p:spPr>
          <a:xfrm>
            <a:off x="2051050" y="495300"/>
            <a:ext cx="18796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1248" dirty="0">
                <a:solidFill>
                  <a:srgbClr val="A2A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EXPLORATION</a:t>
            </a:r>
            <a:endParaRPr lang="en-US" sz="124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550" y="1600200"/>
            <a:ext cx="14605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5300" y="1352550"/>
            <a:ext cx="196850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850" y="4686300"/>
            <a:ext cx="4229100" cy="317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050" y="4191000"/>
            <a:ext cx="165100" cy="165100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8464550" y="3873500"/>
            <a:ext cx="279400" cy="279400"/>
          </a:xfrm>
          <a:prstGeom prst="rect">
            <a:avLst/>
          </a:prstGeom>
          <a:solidFill>
            <a:srgbClr val="FF5A6C"/>
          </a:solidFill>
          <a:ln w="6350">
            <a:solidFill>
              <a:srgbClr val="F85165"/>
            </a:solidFill>
            <a:prstDash val="solid"/>
          </a:ln>
        </p:spPr>
      </p:sp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3350" y="3962400"/>
            <a:ext cx="209550" cy="21590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600450"/>
            <a:ext cx="1638300" cy="1536700"/>
          </a:xfrm>
          <a:prstGeom prst="rect">
            <a:avLst/>
          </a:prstGeom>
        </p:spPr>
      </p:pic>
      <p:sp>
        <p:nvSpPr>
          <p:cNvPr id="13" name="Shape 1"/>
          <p:cNvSpPr/>
          <p:nvPr/>
        </p:nvSpPr>
        <p:spPr>
          <a:xfrm>
            <a:off x="527050" y="3340100"/>
            <a:ext cx="1320800" cy="323850"/>
          </a:xfrm>
          <a:prstGeom prst="rect">
            <a:avLst/>
          </a:prstGeom>
          <a:solidFill>
            <a:srgbClr val="FBB932"/>
          </a:solidFill>
          <a:ln w="6350">
            <a:solidFill>
              <a:srgbClr val="EDC25C"/>
            </a:solidFill>
            <a:prstDash val="solid"/>
          </a:ln>
        </p:spPr>
      </p:sp>
      <p:sp>
        <p:nvSpPr>
          <p:cNvPr id="14" name="Text 2"/>
          <p:cNvSpPr/>
          <p:nvPr/>
        </p:nvSpPr>
        <p:spPr>
          <a:xfrm>
            <a:off x="800100" y="33782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528" b="1" dirty="0">
                <a:solidFill>
                  <a:srgbClr val="4632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证据意识</a:t>
            </a:r>
            <a:endParaRPr lang="en-US" sz="1528" dirty="0"/>
          </a:p>
        </p:txBody>
      </p:sp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0950" y="1879600"/>
            <a:ext cx="1187450" cy="1384300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2700" y="1879600"/>
            <a:ext cx="1187450" cy="1377950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00" y="1879600"/>
            <a:ext cx="1187450" cy="1384300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08700" y="1530350"/>
            <a:ext cx="469900" cy="387350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03800" y="1651000"/>
            <a:ext cx="381000" cy="406400"/>
          </a:xfrm>
          <a:prstGeom prst="rect">
            <a:avLst/>
          </a:prstGeom>
        </p:spPr>
      </p:pic>
      <p:sp>
        <p:nvSpPr>
          <p:cNvPr id="20" name="Shape 3"/>
          <p:cNvSpPr/>
          <p:nvPr/>
        </p:nvSpPr>
        <p:spPr>
          <a:xfrm>
            <a:off x="527050" y="2819400"/>
            <a:ext cx="1320800" cy="336550"/>
          </a:xfrm>
          <a:prstGeom prst="rect">
            <a:avLst/>
          </a:prstGeom>
          <a:solidFill>
            <a:srgbClr val="6450EB"/>
          </a:solidFill>
          <a:ln w="6350">
            <a:solidFill>
              <a:srgbClr val="7263D1"/>
            </a:solidFill>
            <a:prstDash val="solid"/>
          </a:ln>
        </p:spPr>
      </p:sp>
      <p:sp>
        <p:nvSpPr>
          <p:cNvPr id="21" name="Text 4"/>
          <p:cNvSpPr/>
          <p:nvPr/>
        </p:nvSpPr>
        <p:spPr>
          <a:xfrm>
            <a:off x="800100" y="2857500"/>
            <a:ext cx="80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528" b="1" dirty="0">
                <a:solidFill>
                  <a:srgbClr val="DDD4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处理数据</a:t>
            </a:r>
            <a:endParaRPr lang="en-US" sz="1528" dirty="0"/>
          </a:p>
        </p:txBody>
      </p:sp>
      <p:sp>
        <p:nvSpPr>
          <p:cNvPr id="22" name="Shape 5"/>
          <p:cNvSpPr/>
          <p:nvPr/>
        </p:nvSpPr>
        <p:spPr>
          <a:xfrm>
            <a:off x="527050" y="2298700"/>
            <a:ext cx="1320800" cy="336550"/>
          </a:xfrm>
          <a:prstGeom prst="rect">
            <a:avLst/>
          </a:prstGeom>
          <a:solidFill>
            <a:srgbClr val="3DC56E"/>
          </a:solidFill>
          <a:ln w="6350">
            <a:solidFill>
              <a:srgbClr val="64BE86"/>
            </a:solidFill>
            <a:prstDash val="solid"/>
          </a:ln>
        </p:spPr>
      </p:sp>
      <p:sp>
        <p:nvSpPr>
          <p:cNvPr id="23" name="Text 6"/>
          <p:cNvSpPr/>
          <p:nvPr/>
        </p:nvSpPr>
        <p:spPr>
          <a:xfrm>
            <a:off x="800100" y="23368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528" b="1" dirty="0">
                <a:solidFill>
                  <a:srgbClr val="123F3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拒绝偶然</a:t>
            </a:r>
            <a:endParaRPr lang="en-US" sz="1528" dirty="0"/>
          </a:p>
        </p:txBody>
      </p:sp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700" y="2076450"/>
            <a:ext cx="2971800" cy="19050"/>
          </a:xfrm>
          <a:prstGeom prst="rect">
            <a:avLst/>
          </a:prstGeom>
        </p:spPr>
      </p:pic>
      <p:pic>
        <p:nvPicPr>
          <p:cNvPr id="2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40650" y="0"/>
            <a:ext cx="1377950" cy="1358900"/>
          </a:xfrm>
          <a:prstGeom prst="rect">
            <a:avLst/>
          </a:prstGeom>
        </p:spPr>
      </p:pic>
      <p:pic>
        <p:nvPicPr>
          <p:cNvPr id="2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450850"/>
            <a:ext cx="1435100" cy="323850"/>
          </a:xfrm>
          <a:prstGeom prst="rect">
            <a:avLst/>
          </a:prstGeom>
        </p:spPr>
      </p:pic>
      <p:sp>
        <p:nvSpPr>
          <p:cNvPr id="27" name="Text 7"/>
          <p:cNvSpPr/>
          <p:nvPr/>
        </p:nvSpPr>
        <p:spPr>
          <a:xfrm>
            <a:off x="749300" y="520700"/>
            <a:ext cx="9334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7"/>
              </a:lnSpc>
              <a:buNone/>
            </a:pPr>
            <a:r>
              <a:rPr lang="en-US" sz="1189" dirty="0">
                <a:solidFill>
                  <a:srgbClr val="AA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科学实验规范</a:t>
            </a:r>
            <a:endParaRPr lang="en-US" sz="1189" dirty="0"/>
          </a:p>
        </p:txBody>
      </p:sp>
      <p:sp>
        <p:nvSpPr>
          <p:cNvPr id="28" name="Text 8"/>
          <p:cNvSpPr/>
          <p:nvPr/>
        </p:nvSpPr>
        <p:spPr>
          <a:xfrm>
            <a:off x="5797550" y="3403600"/>
            <a:ext cx="229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4"/>
              </a:lnSpc>
              <a:buNone/>
            </a:pPr>
            <a:r>
              <a:rPr lang="en-US" sz="1578" b="1" dirty="0">
                <a:solidFill>
                  <a:srgbClr val="4246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1,2，3，选最稳的那一个</a:t>
            </a:r>
            <a:endParaRPr lang="en-US" sz="1578" dirty="0"/>
          </a:p>
        </p:txBody>
      </p:sp>
      <p:sp>
        <p:nvSpPr>
          <p:cNvPr id="29" name="Text 9"/>
          <p:cNvSpPr/>
          <p:nvPr/>
        </p:nvSpPr>
        <p:spPr>
          <a:xfrm>
            <a:off x="1955800" y="3359150"/>
            <a:ext cx="25019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470" b="1" dirty="0">
                <a:solidFill>
                  <a:srgbClr val="3E415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越多的数据，越有力的说服力</a:t>
            </a:r>
            <a:endParaRPr lang="en-US" sz="1470" dirty="0"/>
          </a:p>
        </p:txBody>
      </p:sp>
      <p:sp>
        <p:nvSpPr>
          <p:cNvPr id="30" name="Text 10"/>
          <p:cNvSpPr/>
          <p:nvPr/>
        </p:nvSpPr>
        <p:spPr>
          <a:xfrm>
            <a:off x="8128000" y="2768600"/>
            <a:ext cx="13335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4"/>
              </a:lnSpc>
              <a:buNone/>
            </a:pPr>
            <a:r>
              <a:rPr lang="en-US" sz="1578" b="1" dirty="0">
                <a:solidFill>
                  <a:srgbClr val="373B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78" dirty="0"/>
          </a:p>
        </p:txBody>
      </p:sp>
      <p:sp>
        <p:nvSpPr>
          <p:cNvPr id="31" name="Text 11"/>
          <p:cNvSpPr/>
          <p:nvPr/>
        </p:nvSpPr>
        <p:spPr>
          <a:xfrm>
            <a:off x="5626100" y="2762250"/>
            <a:ext cx="1206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8"/>
              </a:lnSpc>
              <a:buNone/>
            </a:pPr>
            <a:r>
              <a:rPr lang="en-US" sz="1690" b="1" dirty="0">
                <a:solidFill>
                  <a:srgbClr val="3437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90" dirty="0"/>
          </a:p>
        </p:txBody>
      </p:sp>
      <p:sp>
        <p:nvSpPr>
          <p:cNvPr id="32" name="Text 12"/>
          <p:cNvSpPr/>
          <p:nvPr/>
        </p:nvSpPr>
        <p:spPr>
          <a:xfrm>
            <a:off x="6870700" y="2762250"/>
            <a:ext cx="13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8"/>
              </a:lnSpc>
              <a:buNone/>
            </a:pPr>
            <a:r>
              <a:rPr lang="en-US" sz="1690" b="1" dirty="0">
                <a:solidFill>
                  <a:srgbClr val="393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90" dirty="0"/>
          </a:p>
        </p:txBody>
      </p:sp>
      <p:sp>
        <p:nvSpPr>
          <p:cNvPr id="33" name="Text 13"/>
          <p:cNvSpPr/>
          <p:nvPr/>
        </p:nvSpPr>
        <p:spPr>
          <a:xfrm>
            <a:off x="1955800" y="2838450"/>
            <a:ext cx="28892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1472" b="1" dirty="0">
                <a:solidFill>
                  <a:srgbClr val="3C3E5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记录三次结果，取平均值或中位数</a:t>
            </a:r>
            <a:endParaRPr lang="en-US" sz="1472" dirty="0"/>
          </a:p>
        </p:txBody>
      </p:sp>
      <p:sp>
        <p:nvSpPr>
          <p:cNvPr id="34" name="Text 14"/>
          <p:cNvSpPr/>
          <p:nvPr/>
        </p:nvSpPr>
        <p:spPr>
          <a:xfrm>
            <a:off x="1955800" y="2324100"/>
            <a:ext cx="231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1472" b="1" dirty="0">
                <a:solidFill>
                  <a:srgbClr val="4042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测一次就下结论是不科学的</a:t>
            </a:r>
            <a:endParaRPr lang="en-US" sz="1472" dirty="0"/>
          </a:p>
        </p:txBody>
      </p:sp>
      <p:sp>
        <p:nvSpPr>
          <p:cNvPr id="35" name="Text 15"/>
          <p:cNvSpPr/>
          <p:nvPr/>
        </p:nvSpPr>
        <p:spPr>
          <a:xfrm>
            <a:off x="495300" y="1454150"/>
            <a:ext cx="37846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36"/>
              </a:lnSpc>
              <a:buNone/>
            </a:pPr>
            <a:r>
              <a:rPr lang="en-US" sz="3613" b="1" dirty="0">
                <a:solidFill>
                  <a:srgbClr val="2129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有效降低偶然误差</a:t>
            </a:r>
            <a:endParaRPr lang="en-US" sz="3613" dirty="0"/>
          </a:p>
        </p:txBody>
      </p:sp>
      <p:sp>
        <p:nvSpPr>
          <p:cNvPr id="36" name="Text 16"/>
          <p:cNvSpPr/>
          <p:nvPr/>
        </p:nvSpPr>
        <p:spPr>
          <a:xfrm>
            <a:off x="501650" y="876300"/>
            <a:ext cx="333375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65"/>
              </a:lnSpc>
              <a:buNone/>
            </a:pPr>
            <a:r>
              <a:rPr lang="en-US" sz="3638" b="1" dirty="0">
                <a:solidFill>
                  <a:srgbClr val="232A4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重复测量三次能</a:t>
            </a:r>
            <a:endParaRPr lang="en-US" sz="363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F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30800"/>
            <a:ext cx="1428750" cy="127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50" y="958850"/>
            <a:ext cx="387350" cy="3683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850" y="4686300"/>
            <a:ext cx="4229100" cy="317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050" y="4191000"/>
            <a:ext cx="165100" cy="1651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8464550" y="3873500"/>
            <a:ext cx="279400" cy="279400"/>
          </a:xfrm>
          <a:prstGeom prst="rect">
            <a:avLst/>
          </a:prstGeom>
          <a:solidFill>
            <a:srgbClr val="FF596B"/>
          </a:solidFill>
          <a:ln w="6350">
            <a:solidFill>
              <a:srgbClr val="F84F63"/>
            </a:solidFill>
            <a:prstDash val="solid"/>
          </a:ln>
        </p:spPr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0" y="3962400"/>
            <a:ext cx="215900" cy="21590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6050" y="1365250"/>
            <a:ext cx="4813300" cy="220980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0" y="2889250"/>
            <a:ext cx="946150" cy="5207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7854950" y="3003550"/>
            <a:ext cx="260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86"/>
              </a:lnSpc>
              <a:buNone/>
            </a:pPr>
            <a:r>
              <a:rPr lang="en-US" sz="1988" dirty="0">
                <a:solidFill>
                  <a:srgbClr val="3951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较</a:t>
            </a:r>
            <a:endParaRPr lang="en-US" sz="1988" dirty="0"/>
          </a:p>
        </p:txBody>
      </p:sp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250" y="2882900"/>
            <a:ext cx="736600" cy="53975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6997700" y="3009900"/>
            <a:ext cx="44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7"/>
              </a:lnSpc>
              <a:buNone/>
            </a:pPr>
            <a:r>
              <a:rPr lang="en-US" sz="1697" b="1" dirty="0">
                <a:solidFill>
                  <a:srgbClr val="3D42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？次</a:t>
            </a:r>
            <a:endParaRPr lang="en-US" sz="1697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9950" y="2882900"/>
            <a:ext cx="742950" cy="53340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6121400" y="3009900"/>
            <a:ext cx="44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7"/>
              </a:lnSpc>
              <a:buNone/>
            </a:pPr>
            <a:r>
              <a:rPr lang="en-US" sz="1697" b="1" dirty="0">
                <a:solidFill>
                  <a:srgbClr val="4045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？次</a:t>
            </a:r>
            <a:endParaRPr lang="en-US" sz="1697" dirty="0"/>
          </a:p>
        </p:txBody>
      </p:sp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0000" y="2882900"/>
            <a:ext cx="742950" cy="53340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5251450" y="3009900"/>
            <a:ext cx="4508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722" b="1" dirty="0">
                <a:solidFill>
                  <a:srgbClr val="3D42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？次</a:t>
            </a:r>
            <a:endParaRPr lang="en-US" sz="1722" dirty="0"/>
          </a:p>
        </p:txBody>
      </p:sp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0" y="2095500"/>
            <a:ext cx="939800" cy="52070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7854950" y="2209800"/>
            <a:ext cx="260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85"/>
              </a:lnSpc>
              <a:buNone/>
            </a:pPr>
            <a:r>
              <a:rPr lang="en-US" sz="1988" b="1" dirty="0">
                <a:solidFill>
                  <a:srgbClr val="50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较</a:t>
            </a:r>
            <a:endParaRPr lang="en-US" sz="1988" dirty="0"/>
          </a:p>
        </p:txBody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6250" y="2089150"/>
            <a:ext cx="736600" cy="53975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997700" y="2222500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8"/>
              </a:lnSpc>
              <a:buNone/>
            </a:pPr>
            <a:r>
              <a:rPr lang="en-US" sz="1673" b="1" dirty="0">
                <a:solidFill>
                  <a:srgbClr val="3E46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？次</a:t>
            </a:r>
            <a:endParaRPr lang="en-US" sz="1673" dirty="0"/>
          </a:p>
        </p:txBody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9950" y="2089150"/>
            <a:ext cx="742950" cy="53975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121400" y="2222500"/>
            <a:ext cx="44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7"/>
              </a:lnSpc>
              <a:buNone/>
            </a:pPr>
            <a:r>
              <a:rPr lang="en-US" sz="1697" b="1" dirty="0">
                <a:solidFill>
                  <a:srgbClr val="4249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？次</a:t>
            </a:r>
            <a:endParaRPr lang="en-US" sz="1697" dirty="0"/>
          </a:p>
        </p:txBody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80000" y="2089150"/>
            <a:ext cx="742950" cy="53975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5251450" y="2222500"/>
            <a:ext cx="4445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7"/>
              </a:lnSpc>
              <a:buNone/>
            </a:pPr>
            <a:r>
              <a:rPr lang="en-US" sz="1697" b="1" dirty="0">
                <a:solidFill>
                  <a:srgbClr val="4046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？次</a:t>
            </a:r>
            <a:endParaRPr lang="en-US" sz="1697" dirty="0"/>
          </a:p>
        </p:txBody>
      </p:sp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8100" y="2190750"/>
            <a:ext cx="260350" cy="1104900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3575050"/>
            <a:ext cx="1638300" cy="1562100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0700" y="3054350"/>
            <a:ext cx="2965450" cy="12700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34300" y="0"/>
            <a:ext cx="1390650" cy="1333500"/>
          </a:xfrm>
          <a:prstGeom prst="rect">
            <a:avLst/>
          </a:prstGeom>
        </p:spPr>
      </p:pic>
      <p:sp>
        <p:nvSpPr>
          <p:cNvPr id="30" name="Shape 10"/>
          <p:cNvSpPr/>
          <p:nvPr/>
        </p:nvSpPr>
        <p:spPr>
          <a:xfrm>
            <a:off x="495300" y="450850"/>
            <a:ext cx="1435100" cy="323850"/>
          </a:xfrm>
          <a:prstGeom prst="rect">
            <a:avLst/>
          </a:prstGeom>
          <a:solidFill>
            <a:srgbClr val="15B9CC"/>
          </a:solidFill>
          <a:ln w="6350">
            <a:solidFill>
              <a:srgbClr val="49B5C0"/>
            </a:solidFill>
            <a:prstDash val="solid"/>
          </a:ln>
        </p:spPr>
      </p:sp>
      <p:sp>
        <p:nvSpPr>
          <p:cNvPr id="31" name="Text 11"/>
          <p:cNvSpPr/>
          <p:nvPr/>
        </p:nvSpPr>
        <p:spPr>
          <a:xfrm>
            <a:off x="800100" y="533400"/>
            <a:ext cx="8445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1076" dirty="0">
                <a:solidFill>
                  <a:srgbClr val="9CE8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小学科学探究</a:t>
            </a:r>
            <a:endParaRPr lang="en-US" sz="1076" dirty="0"/>
          </a:p>
        </p:txBody>
      </p:sp>
      <p:sp>
        <p:nvSpPr>
          <p:cNvPr id="32" name="Text 12"/>
          <p:cNvSpPr/>
          <p:nvPr/>
        </p:nvSpPr>
        <p:spPr>
          <a:xfrm>
            <a:off x="4229100" y="3009900"/>
            <a:ext cx="6477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9"/>
              </a:lnSpc>
              <a:buNone/>
            </a:pPr>
            <a:r>
              <a:rPr lang="en-US" sz="1649" b="1" dirty="0">
                <a:solidFill>
                  <a:srgbClr val="4A4F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短摆绳</a:t>
            </a:r>
            <a:endParaRPr lang="en-US" sz="1649" dirty="0"/>
          </a:p>
        </p:txBody>
      </p:sp>
      <p:sp>
        <p:nvSpPr>
          <p:cNvPr id="33" name="Text 13"/>
          <p:cNvSpPr/>
          <p:nvPr/>
        </p:nvSpPr>
        <p:spPr>
          <a:xfrm>
            <a:off x="4229100" y="2216150"/>
            <a:ext cx="6477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9"/>
              </a:lnSpc>
              <a:buNone/>
            </a:pPr>
            <a:r>
              <a:rPr lang="en-US" sz="1649" b="1" dirty="0">
                <a:solidFill>
                  <a:srgbClr val="484E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长摆绳</a:t>
            </a:r>
            <a:endParaRPr lang="en-US" sz="1649" dirty="0"/>
          </a:p>
        </p:txBody>
      </p:sp>
      <p:sp>
        <p:nvSpPr>
          <p:cNvPr id="34" name="Text 14"/>
          <p:cNvSpPr/>
          <p:nvPr/>
        </p:nvSpPr>
        <p:spPr>
          <a:xfrm>
            <a:off x="7969250" y="1536700"/>
            <a:ext cx="4508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4"/>
              </a:lnSpc>
              <a:buNone/>
            </a:pPr>
            <a:r>
              <a:rPr lang="en-US" sz="1712" b="1" dirty="0">
                <a:solidFill>
                  <a:srgbClr val="CBD0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</a:t>
            </a:r>
            <a:endParaRPr lang="en-US" sz="1712" dirty="0"/>
          </a:p>
        </p:txBody>
      </p:sp>
      <p:sp>
        <p:nvSpPr>
          <p:cNvPr id="35" name="Text 15"/>
          <p:cNvSpPr/>
          <p:nvPr/>
        </p:nvSpPr>
        <p:spPr>
          <a:xfrm>
            <a:off x="6934200" y="1536700"/>
            <a:ext cx="5524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6"/>
              </a:lnSpc>
              <a:buNone/>
            </a:pPr>
            <a:r>
              <a:rPr lang="en-US" sz="1630" b="1" dirty="0">
                <a:solidFill>
                  <a:srgbClr val="CED1D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第3次</a:t>
            </a:r>
            <a:endParaRPr lang="en-US" sz="1630" dirty="0"/>
          </a:p>
        </p:txBody>
      </p:sp>
      <p:sp>
        <p:nvSpPr>
          <p:cNvPr id="36" name="Text 16"/>
          <p:cNvSpPr/>
          <p:nvPr/>
        </p:nvSpPr>
        <p:spPr>
          <a:xfrm>
            <a:off x="6064250" y="1536700"/>
            <a:ext cx="5524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6"/>
              </a:lnSpc>
              <a:buNone/>
            </a:pPr>
            <a:r>
              <a:rPr lang="en-US" sz="1630" b="1" dirty="0">
                <a:solidFill>
                  <a:srgbClr val="D0D4D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第2次</a:t>
            </a:r>
            <a:endParaRPr lang="en-US" sz="1630" dirty="0"/>
          </a:p>
        </p:txBody>
      </p:sp>
      <p:sp>
        <p:nvSpPr>
          <p:cNvPr id="37" name="Text 17"/>
          <p:cNvSpPr/>
          <p:nvPr/>
        </p:nvSpPr>
        <p:spPr>
          <a:xfrm>
            <a:off x="5194300" y="1536700"/>
            <a:ext cx="5524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6"/>
              </a:lnSpc>
              <a:buNone/>
            </a:pPr>
            <a:r>
              <a:rPr lang="en-US" sz="1630" b="1" dirty="0">
                <a:solidFill>
                  <a:srgbClr val="D1D6D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第1次</a:t>
            </a:r>
            <a:endParaRPr lang="en-US" sz="1630" dirty="0"/>
          </a:p>
        </p:txBody>
      </p:sp>
      <p:sp>
        <p:nvSpPr>
          <p:cNvPr id="38" name="Text 18"/>
          <p:cNvSpPr/>
          <p:nvPr/>
        </p:nvSpPr>
        <p:spPr>
          <a:xfrm>
            <a:off x="4089400" y="1530350"/>
            <a:ext cx="850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25" b="1" dirty="0">
                <a:solidFill>
                  <a:srgbClr val="C6C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实验条件</a:t>
            </a:r>
            <a:endParaRPr lang="en-US" sz="1625" dirty="0"/>
          </a:p>
        </p:txBody>
      </p:sp>
      <p:sp>
        <p:nvSpPr>
          <p:cNvPr id="39" name="Text 19"/>
          <p:cNvSpPr/>
          <p:nvPr/>
        </p:nvSpPr>
        <p:spPr>
          <a:xfrm>
            <a:off x="501650" y="4559300"/>
            <a:ext cx="154305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1072" b="1" dirty="0">
                <a:solidFill>
                  <a:srgbClr val="97A5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小学科学·探究摆的规律</a:t>
            </a:r>
            <a:endParaRPr lang="en-US" sz="1072" dirty="0"/>
          </a:p>
        </p:txBody>
      </p:sp>
      <p:sp>
        <p:nvSpPr>
          <p:cNvPr id="40" name="Text 20"/>
          <p:cNvSpPr/>
          <p:nvPr/>
        </p:nvSpPr>
        <p:spPr>
          <a:xfrm>
            <a:off x="527050" y="2654300"/>
            <a:ext cx="3086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3"/>
              </a:lnSpc>
              <a:buNone/>
            </a:pPr>
            <a:r>
              <a:rPr lang="en-US" sz="994" dirty="0">
                <a:solidFill>
                  <a:srgbClr val="8C8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DATARECORD·COMPARE·OBSERVE·CONCLUSION</a:t>
            </a:r>
            <a:endParaRPr lang="en-US" sz="994" dirty="0"/>
          </a:p>
        </p:txBody>
      </p:sp>
      <p:sp>
        <p:nvSpPr>
          <p:cNvPr id="41" name="Text 21"/>
          <p:cNvSpPr/>
          <p:nvPr/>
        </p:nvSpPr>
        <p:spPr>
          <a:xfrm>
            <a:off x="8458200" y="768350"/>
            <a:ext cx="3619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922" dirty="0">
                <a:solidFill>
                  <a:srgbClr val="295F8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短摆绳</a:t>
            </a:r>
            <a:endParaRPr lang="en-US" sz="922" dirty="0"/>
          </a:p>
        </p:txBody>
      </p:sp>
      <p:sp>
        <p:nvSpPr>
          <p:cNvPr id="42" name="Text 22"/>
          <p:cNvSpPr/>
          <p:nvPr/>
        </p:nvSpPr>
        <p:spPr>
          <a:xfrm>
            <a:off x="7435850" y="768350"/>
            <a:ext cx="3556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6"/>
              </a:lnSpc>
              <a:buNone/>
            </a:pPr>
            <a:r>
              <a:rPr lang="en-US" sz="905" dirty="0">
                <a:solidFill>
                  <a:srgbClr val="6E72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长摆绳</a:t>
            </a:r>
            <a:endParaRPr lang="en-US" sz="905" dirty="0"/>
          </a:p>
        </p:txBody>
      </p:sp>
      <p:sp>
        <p:nvSpPr>
          <p:cNvPr id="43" name="Text 23"/>
          <p:cNvSpPr/>
          <p:nvPr/>
        </p:nvSpPr>
        <p:spPr>
          <a:xfrm>
            <a:off x="488950" y="882650"/>
            <a:ext cx="2584450" cy="1720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94"/>
              </a:lnSpc>
              <a:buNone/>
            </a:pPr>
            <a:r>
              <a:rPr lang="en-US" sz="3948" b="1" dirty="0">
                <a:solidFill>
                  <a:srgbClr val="2833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数据记录表</a:t>
            </a:r>
            <a:endParaRPr lang="en-US" sz="3948" dirty="0"/>
          </a:p>
          <a:p>
            <a:pPr algn="l" indent="0" marL="0">
              <a:lnSpc>
                <a:spcPts val="4394"/>
              </a:lnSpc>
              <a:buNone/>
            </a:pPr>
            <a:r>
              <a:rPr lang="en-US" sz="3948" b="1" dirty="0">
                <a:solidFill>
                  <a:srgbClr val="2833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揭示了摆动</a:t>
            </a:r>
            <a:endParaRPr lang="en-US" sz="3948" dirty="0"/>
          </a:p>
          <a:p>
            <a:pPr algn="l" indent="0" marL="0">
              <a:lnSpc>
                <a:spcPts val="4394"/>
              </a:lnSpc>
              <a:buNone/>
            </a:pPr>
            <a:r>
              <a:rPr lang="en-US" sz="3948" b="1" dirty="0">
                <a:solidFill>
                  <a:srgbClr val="2833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次数的规律</a:t>
            </a:r>
            <a:endParaRPr lang="en-US" sz="394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FFE"/>
          </a:solidFill>
          <a:ln/>
        </p:spPr>
      </p:sp>
      <p:sp>
        <p:nvSpPr>
          <p:cNvPr id="3" name="Text 1"/>
          <p:cNvSpPr/>
          <p:nvPr/>
        </p:nvSpPr>
        <p:spPr>
          <a:xfrm>
            <a:off x="1460500" y="2857500"/>
            <a:ext cx="34925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405" b="1" dirty="0">
                <a:solidFill>
                  <a:srgbClr val="48474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绳长增加，频率降低；绳长缩短，频率升高</a:t>
            </a:r>
            <a:endParaRPr lang="en-US" sz="1405" dirty="0"/>
          </a:p>
        </p:txBody>
      </p:sp>
      <p:sp>
        <p:nvSpPr>
          <p:cNvPr id="4" name="Shape 2"/>
          <p:cNvSpPr/>
          <p:nvPr/>
        </p:nvSpPr>
        <p:spPr>
          <a:xfrm>
            <a:off x="488950" y="2806700"/>
            <a:ext cx="857250" cy="361950"/>
          </a:xfrm>
          <a:prstGeom prst="rect">
            <a:avLst/>
          </a:prstGeom>
          <a:solidFill>
            <a:srgbClr val="6550EC"/>
          </a:solidFill>
          <a:ln w="6350">
            <a:solidFill>
              <a:srgbClr val="6E5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863850"/>
            <a:ext cx="495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3"/>
              </a:lnSpc>
              <a:buNone/>
            </a:pPr>
            <a:r>
              <a:rPr lang="en-US" sz="1461" b="1" dirty="0">
                <a:solidFill>
                  <a:srgbClr val="DBD3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结论2</a:t>
            </a:r>
            <a:endParaRPr lang="en-US" sz="1461" dirty="0"/>
          </a:p>
        </p:txBody>
      </p:sp>
      <p:sp>
        <p:nvSpPr>
          <p:cNvPr id="6" name="Text 4"/>
          <p:cNvSpPr/>
          <p:nvPr/>
        </p:nvSpPr>
        <p:spPr>
          <a:xfrm>
            <a:off x="1460500" y="2292350"/>
            <a:ext cx="2400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411" b="1" dirty="0">
                <a:solidFill>
                  <a:srgbClr val="3F3E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摆的快慢与摆绳长度密切相关</a:t>
            </a:r>
            <a:endParaRPr lang="en-US" sz="1411" dirty="0"/>
          </a:p>
        </p:txBody>
      </p:sp>
      <p:sp>
        <p:nvSpPr>
          <p:cNvPr id="7" name="Shape 5"/>
          <p:cNvSpPr/>
          <p:nvPr/>
        </p:nvSpPr>
        <p:spPr>
          <a:xfrm>
            <a:off x="495300" y="2235200"/>
            <a:ext cx="850900" cy="368300"/>
          </a:xfrm>
          <a:prstGeom prst="rect">
            <a:avLst/>
          </a:prstGeom>
          <a:solidFill>
            <a:srgbClr val="FDD814"/>
          </a:solidFill>
          <a:ln w="6350">
            <a:solidFill>
              <a:srgbClr val="F0D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9450" y="2292350"/>
            <a:ext cx="4826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8"/>
              </a:lnSpc>
              <a:buNone/>
            </a:pPr>
            <a:r>
              <a:rPr lang="en-US" sz="1423" b="1" dirty="0">
                <a:solidFill>
                  <a:srgbClr val="4A3B1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结论1</a:t>
            </a:r>
            <a:endParaRPr lang="en-US" sz="1423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4900" y="1625600"/>
            <a:ext cx="114300" cy="1079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8950" y="1454150"/>
            <a:ext cx="421005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23"/>
              </a:lnSpc>
              <a:buNone/>
            </a:pPr>
            <a:r>
              <a:rPr lang="en-US" sz="4019" b="1" dirty="0">
                <a:solidFill>
                  <a:srgbClr val="2F39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摆绳越短摆动越快</a:t>
            </a:r>
            <a:endParaRPr lang="en-US" sz="4019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666750"/>
            <a:ext cx="209550" cy="2095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8950" y="869950"/>
            <a:ext cx="4229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07"/>
              </a:lnSpc>
              <a:buNone/>
            </a:pPr>
            <a:r>
              <a:rPr lang="en-US" sz="3589" b="1" dirty="0">
                <a:solidFill>
                  <a:srgbClr val="303A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摆绳越长摆动越慢，</a:t>
            </a:r>
            <a:endParaRPr lang="en-US" sz="3589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723900"/>
            <a:ext cx="69850" cy="7620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0" y="0"/>
            <a:ext cx="1371600" cy="136525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350" y="895350"/>
            <a:ext cx="3409950" cy="34099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121650" y="2012950"/>
            <a:ext cx="730250" cy="730250"/>
          </a:xfrm>
          <a:prstGeom prst="rect">
            <a:avLst/>
          </a:prstGeom>
          <a:solidFill>
            <a:srgbClr val="19295B"/>
          </a:solidFill>
          <a:ln w="6350">
            <a:solidFill>
              <a:srgbClr val="52607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369300" y="2387600"/>
            <a:ext cx="260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79"/>
              </a:lnSpc>
              <a:buNone/>
            </a:pPr>
            <a:r>
              <a:rPr lang="en-US" sz="1983" b="1" dirty="0">
                <a:solidFill>
                  <a:srgbClr val="C9CF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</a:t>
            </a:r>
            <a:endParaRPr lang="en-US" sz="1983" dirty="0"/>
          </a:p>
        </p:txBody>
      </p:sp>
      <p:sp>
        <p:nvSpPr>
          <p:cNvPr id="18" name="Text 11"/>
          <p:cNvSpPr/>
          <p:nvPr/>
        </p:nvSpPr>
        <p:spPr>
          <a:xfrm>
            <a:off x="8293100" y="2152650"/>
            <a:ext cx="4127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2"/>
              </a:lnSpc>
              <a:buNone/>
            </a:pPr>
            <a:r>
              <a:rPr lang="en-US" sz="1577" b="1" dirty="0">
                <a:solidFill>
                  <a:srgbClr val="C4CA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短绳</a:t>
            </a:r>
            <a:endParaRPr lang="en-US" sz="1577" dirty="0"/>
          </a:p>
        </p:txBody>
      </p:sp>
      <p:sp>
        <p:nvSpPr>
          <p:cNvPr id="19" name="Shape 12"/>
          <p:cNvSpPr/>
          <p:nvPr/>
        </p:nvSpPr>
        <p:spPr>
          <a:xfrm>
            <a:off x="5130800" y="2305050"/>
            <a:ext cx="730250" cy="730250"/>
          </a:xfrm>
          <a:prstGeom prst="rect">
            <a:avLst/>
          </a:prstGeom>
          <a:solidFill>
            <a:srgbClr val="19285A"/>
          </a:solidFill>
          <a:ln w="6350">
            <a:solidFill>
              <a:srgbClr val="566480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378450" y="2692400"/>
            <a:ext cx="260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98"/>
              </a:lnSpc>
              <a:buNone/>
            </a:pPr>
            <a:r>
              <a:rPr lang="en-US" sz="1915" b="1" dirty="0">
                <a:solidFill>
                  <a:srgbClr val="BCC1C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慢</a:t>
            </a:r>
            <a:endParaRPr lang="en-US" sz="1915" dirty="0"/>
          </a:p>
        </p:txBody>
      </p:sp>
      <p:sp>
        <p:nvSpPr>
          <p:cNvPr id="21" name="Text 14"/>
          <p:cNvSpPr/>
          <p:nvPr/>
        </p:nvSpPr>
        <p:spPr>
          <a:xfrm>
            <a:off x="5302250" y="2419350"/>
            <a:ext cx="4127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2"/>
              </a:lnSpc>
              <a:buNone/>
            </a:pPr>
            <a:r>
              <a:rPr lang="en-US" sz="1577" b="1" dirty="0">
                <a:solidFill>
                  <a:srgbClr val="C8CCD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长绳</a:t>
            </a:r>
            <a:endParaRPr lang="en-US" sz="1577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0" y="1485900"/>
            <a:ext cx="1022350" cy="660400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800" y="1162050"/>
            <a:ext cx="165100" cy="17145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800" y="1028700"/>
            <a:ext cx="107950" cy="10795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95300" y="450850"/>
            <a:ext cx="1746250" cy="323850"/>
          </a:xfrm>
          <a:prstGeom prst="rect">
            <a:avLst/>
          </a:prstGeom>
          <a:solidFill>
            <a:srgbClr val="18B9CB"/>
          </a:solidFill>
          <a:ln w="6350">
            <a:solidFill>
              <a:srgbClr val="49B4BE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685800" y="520700"/>
            <a:ext cx="13779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1169" dirty="0">
                <a:solidFill>
                  <a:srgbClr val="AA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科学探索·课堂探究</a:t>
            </a:r>
            <a:endParaRPr lang="en-US" sz="1169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850" y="4686300"/>
            <a:ext cx="4229100" cy="31750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7050" y="4191000"/>
            <a:ext cx="165100" cy="165100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3350" y="3962400"/>
            <a:ext cx="209550" cy="215900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587750"/>
            <a:ext cx="1708150" cy="15494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495300" y="4552950"/>
            <a:ext cx="126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72" dirty="0">
                <a:solidFill>
                  <a:srgbClr val="97A7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小学科学·趣昧探究</a:t>
            </a:r>
            <a:endParaRPr lang="en-US" sz="1072" dirty="0"/>
          </a:p>
        </p:txBody>
      </p:sp>
      <p:sp>
        <p:nvSpPr>
          <p:cNvPr id="32" name="Shape 18"/>
          <p:cNvSpPr/>
          <p:nvPr/>
        </p:nvSpPr>
        <p:spPr>
          <a:xfrm>
            <a:off x="8464550" y="3873500"/>
            <a:ext cx="279400" cy="273050"/>
          </a:xfrm>
          <a:prstGeom prst="rect">
            <a:avLst/>
          </a:prstGeom>
          <a:solidFill>
            <a:srgbClr val="FF5A6D"/>
          </a:solidFill>
          <a:ln w="6350">
            <a:solidFill>
              <a:srgbClr val="F85468"/>
            </a:solidFill>
            <a:prstDash val="solid"/>
          </a:ln>
        </p:spPr>
      </p:sp>
      <p:sp>
        <p:nvSpPr>
          <p:cNvPr id="33" name="Shape 19"/>
          <p:cNvSpPr/>
          <p:nvPr/>
        </p:nvSpPr>
        <p:spPr>
          <a:xfrm>
            <a:off x="495300" y="3441700"/>
            <a:ext cx="4260850" cy="831850"/>
          </a:xfrm>
          <a:prstGeom prst="rect">
            <a:avLst/>
          </a:prstGeom>
          <a:solidFill>
            <a:srgbClr val="FC6302"/>
          </a:solidFill>
          <a:ln w="6350">
            <a:solidFill>
              <a:srgbClr val="DE7025"/>
            </a:solidFill>
            <a:prstDash val="solid"/>
          </a:ln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100" y="3556000"/>
            <a:ext cx="628650" cy="60960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1460500" y="3721100"/>
            <a:ext cx="30607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1"/>
              </a:lnSpc>
              <a:buNone/>
            </a:pPr>
            <a:r>
              <a:rPr lang="en-US" sz="1376" b="1" dirty="0">
                <a:solidFill>
                  <a:srgbClr val="F3D1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应用：机械钟表走慢了，该怎么调节？</a:t>
            </a:r>
            <a:endParaRPr lang="en-US" sz="137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94100"/>
            <a:ext cx="1397000" cy="1549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50" y="4692650"/>
            <a:ext cx="4222750" cy="254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" y="3886200"/>
            <a:ext cx="1568450" cy="125095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08000" y="2895600"/>
            <a:ext cx="1333500" cy="381000"/>
          </a:xfrm>
          <a:prstGeom prst="rect">
            <a:avLst/>
          </a:prstGeom>
          <a:solidFill>
            <a:srgbClr val="6050EA"/>
          </a:solidFill>
          <a:ln w="6350">
            <a:solidFill>
              <a:srgbClr val="695CD2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806450" y="2959100"/>
            <a:ext cx="76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6"/>
              </a:lnSpc>
              <a:buNone/>
            </a:pPr>
            <a:r>
              <a:rPr lang="en-US" sz="1455" b="1" dirty="0">
                <a:solidFill>
                  <a:srgbClr val="D7D0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科学定义</a:t>
            </a:r>
            <a:endParaRPr lang="en-US" sz="1455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600200"/>
            <a:ext cx="520700" cy="254000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765300"/>
            <a:ext cx="196850" cy="119380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600" y="1765300"/>
            <a:ext cx="323850" cy="2343150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0" y="3327400"/>
            <a:ext cx="781050" cy="73025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7050" y="1790700"/>
            <a:ext cx="787400" cy="2286000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2800" y="1574800"/>
            <a:ext cx="215900" cy="1720850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1784350"/>
            <a:ext cx="234950" cy="1498600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508000" y="3467100"/>
            <a:ext cx="1333500" cy="381000"/>
          </a:xfrm>
          <a:prstGeom prst="rect">
            <a:avLst/>
          </a:prstGeom>
          <a:solidFill>
            <a:srgbClr val="FBBA2F"/>
          </a:solidFill>
          <a:ln w="6350">
            <a:solidFill>
              <a:srgbClr val="ECC35F"/>
            </a:solidFill>
            <a:prstDash val="solid"/>
          </a:ln>
        </p:spPr>
      </p:sp>
      <p:sp>
        <p:nvSpPr>
          <p:cNvPr id="16" name="Text 4"/>
          <p:cNvSpPr/>
          <p:nvPr/>
        </p:nvSpPr>
        <p:spPr>
          <a:xfrm>
            <a:off x="806450" y="3536950"/>
            <a:ext cx="76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6"/>
              </a:lnSpc>
              <a:buNone/>
            </a:pPr>
            <a:r>
              <a:rPr lang="en-US" sz="1455" b="1" dirty="0">
                <a:solidFill>
                  <a:srgbClr val="57452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深度思考</a:t>
            </a:r>
            <a:endParaRPr lang="en-US" sz="1455" dirty="0"/>
          </a:p>
        </p:txBody>
      </p:sp>
      <p:sp>
        <p:nvSpPr>
          <p:cNvPr id="17" name="Shape 5"/>
          <p:cNvSpPr/>
          <p:nvPr/>
        </p:nvSpPr>
        <p:spPr>
          <a:xfrm>
            <a:off x="508000" y="2324100"/>
            <a:ext cx="1333500" cy="381000"/>
          </a:xfrm>
          <a:prstGeom prst="rect">
            <a:avLst/>
          </a:prstGeom>
          <a:solidFill>
            <a:srgbClr val="CFEF04"/>
          </a:solidFill>
          <a:ln w="6350">
            <a:solidFill>
              <a:srgbClr val="D4E750"/>
            </a:solidFill>
            <a:prstDash val="solid"/>
          </a:ln>
        </p:spPr>
      </p:sp>
      <p:sp>
        <p:nvSpPr>
          <p:cNvPr id="18" name="Text 6"/>
          <p:cNvSpPr/>
          <p:nvPr/>
        </p:nvSpPr>
        <p:spPr>
          <a:xfrm>
            <a:off x="806450" y="2387600"/>
            <a:ext cx="768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67" b="1" dirty="0">
                <a:solidFill>
                  <a:srgbClr val="3C4F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误区纠正</a:t>
            </a:r>
            <a:endParaRPr lang="en-US" sz="1467" dirty="0"/>
          </a:p>
        </p:txBody>
      </p:sp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700" y="2089150"/>
            <a:ext cx="4406900" cy="19050"/>
          </a:xfrm>
          <a:prstGeom prst="rect">
            <a:avLst/>
          </a:prstGeom>
        </p:spPr>
      </p:pic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0650" y="0"/>
            <a:ext cx="1384300" cy="1352550"/>
          </a:xfrm>
          <a:prstGeom prst="rect">
            <a:avLst/>
          </a:prstGeom>
        </p:spPr>
      </p:pic>
      <p:sp>
        <p:nvSpPr>
          <p:cNvPr id="21" name="Shape 7"/>
          <p:cNvSpPr/>
          <p:nvPr/>
        </p:nvSpPr>
        <p:spPr>
          <a:xfrm>
            <a:off x="495300" y="450850"/>
            <a:ext cx="1435100" cy="323850"/>
          </a:xfrm>
          <a:prstGeom prst="rect">
            <a:avLst/>
          </a:prstGeom>
          <a:solidFill>
            <a:srgbClr val="74C1E6"/>
          </a:solidFill>
          <a:ln w="6350">
            <a:solidFill>
              <a:srgbClr val="93C2D6"/>
            </a:solidFill>
            <a:prstDash val="solid"/>
          </a:ln>
        </p:spPr>
      </p:sp>
      <p:sp>
        <p:nvSpPr>
          <p:cNvPr id="22" name="Text 8"/>
          <p:cNvSpPr/>
          <p:nvPr/>
        </p:nvSpPr>
        <p:spPr>
          <a:xfrm>
            <a:off x="850900" y="495300"/>
            <a:ext cx="7429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2"/>
              </a:lnSpc>
              <a:buNone/>
            </a:pPr>
            <a:r>
              <a:rPr lang="en-US" sz="1418" b="1" dirty="0">
                <a:solidFill>
                  <a:srgbClr val="D1EF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科学探究</a:t>
            </a:r>
            <a:endParaRPr lang="en-US" sz="1418" dirty="0"/>
          </a:p>
        </p:txBody>
      </p:sp>
      <p:sp>
        <p:nvSpPr>
          <p:cNvPr id="23" name="Text 9"/>
          <p:cNvSpPr/>
          <p:nvPr/>
        </p:nvSpPr>
        <p:spPr>
          <a:xfrm>
            <a:off x="7486650" y="4210050"/>
            <a:ext cx="768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67" b="1" dirty="0">
                <a:solidFill>
                  <a:srgbClr val="3A3B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长木条摆</a:t>
            </a:r>
            <a:endParaRPr lang="en-US" sz="1467" dirty="0"/>
          </a:p>
        </p:txBody>
      </p:sp>
      <p:sp>
        <p:nvSpPr>
          <p:cNvPr id="24" name="Text 10"/>
          <p:cNvSpPr/>
          <p:nvPr/>
        </p:nvSpPr>
        <p:spPr>
          <a:xfrm>
            <a:off x="5715000" y="4210050"/>
            <a:ext cx="58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487" b="1" dirty="0">
                <a:solidFill>
                  <a:srgbClr val="4141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普通摆</a:t>
            </a:r>
            <a:endParaRPr lang="en-US" sz="1487" dirty="0"/>
          </a:p>
        </p:txBody>
      </p:sp>
      <p:sp>
        <p:nvSpPr>
          <p:cNvPr id="25" name="Text 11"/>
          <p:cNvSpPr/>
          <p:nvPr/>
        </p:nvSpPr>
        <p:spPr>
          <a:xfrm>
            <a:off x="495300" y="4559300"/>
            <a:ext cx="168275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5"/>
              </a:lnSpc>
              <a:buNone/>
            </a:pPr>
            <a:r>
              <a:rPr lang="en-US" sz="1071" b="1" dirty="0">
                <a:solidFill>
                  <a:srgbClr val="94A1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</a:t>
            </a:r>
            <a:endParaRPr lang="en-US" sz="1071" dirty="0"/>
          </a:p>
        </p:txBody>
      </p:sp>
      <p:sp>
        <p:nvSpPr>
          <p:cNvPr id="26" name="Text 12"/>
          <p:cNvSpPr/>
          <p:nvPr/>
        </p:nvSpPr>
        <p:spPr>
          <a:xfrm>
            <a:off x="6457950" y="3543300"/>
            <a:ext cx="406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552" b="1" dirty="0">
                <a:solidFill>
                  <a:srgbClr val="4645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重心</a:t>
            </a:r>
            <a:endParaRPr lang="en-US" sz="1552" dirty="0"/>
          </a:p>
        </p:txBody>
      </p:sp>
      <p:sp>
        <p:nvSpPr>
          <p:cNvPr id="27" name="Text 13"/>
          <p:cNvSpPr/>
          <p:nvPr/>
        </p:nvSpPr>
        <p:spPr>
          <a:xfrm>
            <a:off x="8312150" y="2184400"/>
            <a:ext cx="584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2"/>
              </a:lnSpc>
              <a:buNone/>
            </a:pPr>
            <a:r>
              <a:rPr lang="en-US" sz="1487" b="1" dirty="0">
                <a:solidFill>
                  <a:srgbClr val="3D3C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</a:t>
            </a:r>
            <a:endParaRPr lang="en-US" sz="148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487" b="1" dirty="0">
                <a:solidFill>
                  <a:srgbClr val="3D3C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摆长</a:t>
            </a:r>
            <a:endParaRPr lang="en-US" sz="1487" dirty="0"/>
          </a:p>
        </p:txBody>
      </p:sp>
      <p:sp>
        <p:nvSpPr>
          <p:cNvPr id="28" name="Text 14"/>
          <p:cNvSpPr/>
          <p:nvPr/>
        </p:nvSpPr>
        <p:spPr>
          <a:xfrm>
            <a:off x="8223250" y="2832100"/>
            <a:ext cx="40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3"/>
              </a:lnSpc>
              <a:buNone/>
            </a:pPr>
            <a:r>
              <a:rPr lang="en-US" sz="1528" b="1" dirty="0">
                <a:solidFill>
                  <a:srgbClr val="4040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重心</a:t>
            </a:r>
            <a:endParaRPr lang="en-US" sz="1528" dirty="0"/>
          </a:p>
        </p:txBody>
      </p:sp>
      <p:sp>
        <p:nvSpPr>
          <p:cNvPr id="29" name="Text 15"/>
          <p:cNvSpPr/>
          <p:nvPr/>
        </p:nvSpPr>
        <p:spPr>
          <a:xfrm>
            <a:off x="6394450" y="2413000"/>
            <a:ext cx="577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17"/>
              </a:lnSpc>
              <a:buNone/>
            </a:pPr>
            <a:r>
              <a:rPr lang="en-US" sz="1472" b="1" dirty="0">
                <a:solidFill>
                  <a:srgbClr val="393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</a:t>
            </a:r>
            <a:endParaRPr lang="en-US" sz="1472" dirty="0"/>
          </a:p>
          <a:p>
            <a:pPr algn="l" indent="0" marL="0">
              <a:lnSpc>
                <a:spcPts val="1817"/>
              </a:lnSpc>
              <a:buNone/>
            </a:pPr>
            <a:r>
              <a:rPr lang="en-US" sz="1472" b="1" dirty="0">
                <a:solidFill>
                  <a:srgbClr val="393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摆长</a:t>
            </a:r>
            <a:endParaRPr lang="en-US" sz="1472" dirty="0"/>
          </a:p>
        </p:txBody>
      </p:sp>
      <p:sp>
        <p:nvSpPr>
          <p:cNvPr id="30" name="Text 16"/>
          <p:cNvSpPr/>
          <p:nvPr/>
        </p:nvSpPr>
        <p:spPr>
          <a:xfrm>
            <a:off x="5067300" y="2686050"/>
            <a:ext cx="711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9"/>
              </a:lnSpc>
              <a:buNone/>
            </a:pPr>
            <a:r>
              <a:rPr lang="en-US" sz="1191" b="1" dirty="0">
                <a:solidFill>
                  <a:srgbClr val="C550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x（误区）</a:t>
            </a:r>
            <a:endParaRPr lang="en-US" sz="1191" dirty="0"/>
          </a:p>
        </p:txBody>
      </p:sp>
      <p:sp>
        <p:nvSpPr>
          <p:cNvPr id="31" name="Text 17"/>
          <p:cNvSpPr/>
          <p:nvPr/>
        </p:nvSpPr>
        <p:spPr>
          <a:xfrm>
            <a:off x="5048250" y="2425700"/>
            <a:ext cx="81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552" b="1" dirty="0">
                <a:solidFill>
                  <a:srgbClr val="3A3A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摆绳长度</a:t>
            </a:r>
            <a:endParaRPr lang="en-US" sz="1552" dirty="0"/>
          </a:p>
        </p:txBody>
      </p:sp>
      <p:sp>
        <p:nvSpPr>
          <p:cNvPr id="32" name="Text 18"/>
          <p:cNvSpPr/>
          <p:nvPr/>
        </p:nvSpPr>
        <p:spPr>
          <a:xfrm>
            <a:off x="1981200" y="3486150"/>
            <a:ext cx="254635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4"/>
              </a:lnSpc>
              <a:buNone/>
            </a:pPr>
            <a:r>
              <a:rPr lang="en-US" sz="1496" b="1" dirty="0">
                <a:solidFill>
                  <a:srgbClr val="3736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如果摆锤是个很长的木条，重</a:t>
            </a:r>
            <a:endParaRPr lang="en-US" sz="1496" dirty="0"/>
          </a:p>
          <a:p>
            <a:pPr algn="l" indent="0" marL="0">
              <a:lnSpc>
                <a:spcPts val="2054"/>
              </a:lnSpc>
              <a:buNone/>
            </a:pPr>
            <a:r>
              <a:rPr lang="en-US" sz="1496" b="1" dirty="0">
                <a:solidFill>
                  <a:srgbClr val="3736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心存在哪？</a:t>
            </a:r>
            <a:endParaRPr lang="en-US" sz="1496" dirty="0"/>
          </a:p>
        </p:txBody>
      </p:sp>
      <p:sp>
        <p:nvSpPr>
          <p:cNvPr id="33" name="Text 19"/>
          <p:cNvSpPr/>
          <p:nvPr/>
        </p:nvSpPr>
        <p:spPr>
          <a:xfrm>
            <a:off x="1981200" y="2946400"/>
            <a:ext cx="254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496" b="1" dirty="0">
                <a:solidFill>
                  <a:srgbClr val="3F3E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从悬挂点到摆锤重心点的距离</a:t>
            </a:r>
            <a:endParaRPr lang="en-US" sz="1496" dirty="0"/>
          </a:p>
        </p:txBody>
      </p:sp>
      <p:sp>
        <p:nvSpPr>
          <p:cNvPr id="34" name="Text 20"/>
          <p:cNvSpPr/>
          <p:nvPr/>
        </p:nvSpPr>
        <p:spPr>
          <a:xfrm>
            <a:off x="1981200" y="23749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12"/>
              </a:lnSpc>
              <a:buNone/>
            </a:pPr>
            <a:r>
              <a:rPr lang="en-US" sz="1510" b="1" dirty="0">
                <a:solidFill>
                  <a:srgbClr val="35343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摆长≠绳子的长度</a:t>
            </a:r>
            <a:endParaRPr lang="en-US" sz="1510" dirty="0"/>
          </a:p>
        </p:txBody>
      </p:sp>
      <p:sp>
        <p:nvSpPr>
          <p:cNvPr id="35" name="Text 21"/>
          <p:cNvSpPr/>
          <p:nvPr/>
        </p:nvSpPr>
        <p:spPr>
          <a:xfrm>
            <a:off x="7258050" y="1333500"/>
            <a:ext cx="12192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7"/>
              </a:lnSpc>
              <a:buNone/>
            </a:pPr>
            <a:r>
              <a:rPr lang="en-US" sz="1330" b="1" dirty="0">
                <a:solidFill>
                  <a:srgbClr val="3F3E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支点（悬挂点）</a:t>
            </a:r>
            <a:endParaRPr lang="en-US" sz="1330" dirty="0"/>
          </a:p>
        </p:txBody>
      </p:sp>
      <p:sp>
        <p:nvSpPr>
          <p:cNvPr id="36" name="Text 22"/>
          <p:cNvSpPr/>
          <p:nvPr/>
        </p:nvSpPr>
        <p:spPr>
          <a:xfrm>
            <a:off x="5391150" y="1314450"/>
            <a:ext cx="12128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88"/>
              </a:lnSpc>
              <a:buNone/>
            </a:pPr>
            <a:r>
              <a:rPr lang="en-US" sz="1323" b="1" dirty="0">
                <a:solidFill>
                  <a:srgbClr val="4040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支点（悬挂点）</a:t>
            </a:r>
            <a:endParaRPr lang="en-US" sz="1323" dirty="0"/>
          </a:p>
        </p:txBody>
      </p:sp>
      <p:sp>
        <p:nvSpPr>
          <p:cNvPr id="37" name="Text 23"/>
          <p:cNvSpPr/>
          <p:nvPr/>
        </p:nvSpPr>
        <p:spPr>
          <a:xfrm>
            <a:off x="495300" y="1416050"/>
            <a:ext cx="448945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15"/>
              </a:lnSpc>
              <a:buNone/>
            </a:pPr>
            <a:r>
              <a:rPr lang="en-US" sz="3429" b="1" dirty="0">
                <a:solidFill>
                  <a:srgbClr val="242E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支点到摆锤重心的距离</a:t>
            </a:r>
            <a:endParaRPr lang="en-US" sz="3429" dirty="0"/>
          </a:p>
        </p:txBody>
      </p:sp>
      <p:sp>
        <p:nvSpPr>
          <p:cNvPr id="38" name="Text 24"/>
          <p:cNvSpPr/>
          <p:nvPr/>
        </p:nvSpPr>
        <p:spPr>
          <a:xfrm>
            <a:off x="495300" y="869950"/>
            <a:ext cx="403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6"/>
              </a:lnSpc>
              <a:buNone/>
            </a:pPr>
            <a:r>
              <a:rPr lang="en-US" sz="3422" b="1" dirty="0">
                <a:solidFill>
                  <a:srgbClr val="242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真正的“摆长”是指</a:t>
            </a:r>
            <a:endParaRPr lang="en-US" sz="342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F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200" y="0"/>
            <a:ext cx="292100" cy="10287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850" y="4686300"/>
            <a:ext cx="4229100" cy="3175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8439150" y="4394200"/>
            <a:ext cx="152400" cy="158750"/>
          </a:xfrm>
          <a:prstGeom prst="rect">
            <a:avLst/>
          </a:prstGeom>
          <a:solidFill>
            <a:srgbClr val="12C486"/>
          </a:solidFill>
          <a:ln w="6350">
            <a:solidFill>
              <a:srgbClr val="23AE81"/>
            </a:solidFill>
            <a:prstDash val="solid"/>
          </a:ln>
        </p:spPr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050" y="4191000"/>
            <a:ext cx="165100" cy="16510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8464550" y="3873500"/>
            <a:ext cx="279400" cy="279400"/>
          </a:xfrm>
          <a:prstGeom prst="rect">
            <a:avLst/>
          </a:prstGeom>
          <a:solidFill>
            <a:srgbClr val="FF5A6E"/>
          </a:solidFill>
          <a:ln w="6350">
            <a:solidFill>
              <a:srgbClr val="F75065"/>
            </a:solidFill>
            <a:prstDash val="solid"/>
          </a:ln>
        </p:spPr>
      </p:sp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3308350"/>
            <a:ext cx="1187450" cy="1181100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" y="3384550"/>
            <a:ext cx="158750" cy="15240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2550" y="3124200"/>
            <a:ext cx="1358900" cy="1358900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3556000"/>
            <a:ext cx="3359150" cy="1581150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0200" y="4368800"/>
            <a:ext cx="1111250" cy="768350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575050"/>
            <a:ext cx="1638300" cy="1568450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400" y="3111500"/>
            <a:ext cx="1377950" cy="1371600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6413500" y="1898650"/>
            <a:ext cx="1371600" cy="336550"/>
          </a:xfrm>
          <a:prstGeom prst="rect">
            <a:avLst/>
          </a:prstGeom>
          <a:solidFill>
            <a:srgbClr val="FCBA32"/>
          </a:solidFill>
          <a:ln w="6350">
            <a:solidFill>
              <a:srgbClr val="EDC261"/>
            </a:solidFill>
            <a:prstDash val="solid"/>
          </a:ln>
        </p:spPr>
      </p:sp>
      <p:sp>
        <p:nvSpPr>
          <p:cNvPr id="18" name="Text 4"/>
          <p:cNvSpPr/>
          <p:nvPr/>
        </p:nvSpPr>
        <p:spPr>
          <a:xfrm>
            <a:off x="6750050" y="1943100"/>
            <a:ext cx="7239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9"/>
              </a:lnSpc>
              <a:buNone/>
            </a:pPr>
            <a:r>
              <a:rPr lang="en-US" sz="1383" b="1" dirty="0">
                <a:solidFill>
                  <a:srgbClr val="4932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未来思考</a:t>
            </a:r>
            <a:endParaRPr lang="en-US" sz="1383" dirty="0"/>
          </a:p>
        </p:txBody>
      </p:sp>
      <p:sp>
        <p:nvSpPr>
          <p:cNvPr id="19" name="Shape 5"/>
          <p:cNvSpPr/>
          <p:nvPr/>
        </p:nvSpPr>
        <p:spPr>
          <a:xfrm>
            <a:off x="3479800" y="1898650"/>
            <a:ext cx="1358900" cy="336550"/>
          </a:xfrm>
          <a:prstGeom prst="rect">
            <a:avLst/>
          </a:prstGeom>
          <a:solidFill>
            <a:srgbClr val="604EEC"/>
          </a:solidFill>
          <a:ln w="6350">
            <a:solidFill>
              <a:srgbClr val="6A5DD0"/>
            </a:solidFill>
            <a:prstDash val="solid"/>
          </a:ln>
        </p:spPr>
      </p:sp>
      <p:sp>
        <p:nvSpPr>
          <p:cNvPr id="20" name="Text 6"/>
          <p:cNvSpPr/>
          <p:nvPr/>
        </p:nvSpPr>
        <p:spPr>
          <a:xfrm>
            <a:off x="3803650" y="1949450"/>
            <a:ext cx="7366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407" b="1" dirty="0">
                <a:solidFill>
                  <a:srgbClr val="D3CB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历史见证</a:t>
            </a:r>
            <a:endParaRPr lang="en-US" sz="1407" dirty="0"/>
          </a:p>
        </p:txBody>
      </p:sp>
      <p:sp>
        <p:nvSpPr>
          <p:cNvPr id="21" name="Shape 7"/>
          <p:cNvSpPr/>
          <p:nvPr/>
        </p:nvSpPr>
        <p:spPr>
          <a:xfrm>
            <a:off x="527050" y="1898650"/>
            <a:ext cx="1339850" cy="336550"/>
          </a:xfrm>
          <a:prstGeom prst="rect">
            <a:avLst/>
          </a:prstGeom>
          <a:solidFill>
            <a:srgbClr val="CDF007"/>
          </a:solidFill>
          <a:ln w="6350">
            <a:solidFill>
              <a:srgbClr val="D2E952"/>
            </a:solidFill>
            <a:prstDash val="solid"/>
          </a:ln>
        </p:spPr>
      </p:sp>
      <p:sp>
        <p:nvSpPr>
          <p:cNvPr id="22" name="Text 8"/>
          <p:cNvSpPr/>
          <p:nvPr/>
        </p:nvSpPr>
        <p:spPr>
          <a:xfrm>
            <a:off x="844550" y="1949450"/>
            <a:ext cx="7239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9"/>
              </a:lnSpc>
              <a:buNone/>
            </a:pPr>
            <a:r>
              <a:rPr lang="en-US" sz="1383" b="1" dirty="0">
                <a:solidFill>
                  <a:srgbClr val="36471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生活应用</a:t>
            </a:r>
            <a:endParaRPr lang="en-US" sz="1383" dirty="0"/>
          </a:p>
        </p:txBody>
      </p:sp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" y="1695450"/>
            <a:ext cx="4203700" cy="25400"/>
          </a:xfrm>
          <a:prstGeom prst="rect">
            <a:avLst/>
          </a:prstGeom>
        </p:spPr>
      </p:pic>
      <p:sp>
        <p:nvSpPr>
          <p:cNvPr id="24" name="Shape 9"/>
          <p:cNvSpPr/>
          <p:nvPr/>
        </p:nvSpPr>
        <p:spPr>
          <a:xfrm>
            <a:off x="495300" y="450850"/>
            <a:ext cx="1435100" cy="323850"/>
          </a:xfrm>
          <a:prstGeom prst="rect">
            <a:avLst/>
          </a:prstGeom>
          <a:solidFill>
            <a:srgbClr val="17B7CA"/>
          </a:solidFill>
          <a:ln w="6350">
            <a:solidFill>
              <a:srgbClr val="4BB2BD"/>
            </a:solidFill>
            <a:prstDash val="solid"/>
          </a:ln>
        </p:spPr>
      </p:sp>
      <p:sp>
        <p:nvSpPr>
          <p:cNvPr id="25" name="Text 10"/>
          <p:cNvSpPr/>
          <p:nvPr/>
        </p:nvSpPr>
        <p:spPr>
          <a:xfrm>
            <a:off x="838200" y="488950"/>
            <a:ext cx="768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467" b="1" dirty="0">
                <a:solidFill>
                  <a:srgbClr val="AF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科学探究</a:t>
            </a:r>
            <a:endParaRPr lang="en-US" sz="1467" dirty="0"/>
          </a:p>
        </p:txBody>
      </p:sp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0650" y="0"/>
            <a:ext cx="1371600" cy="1358900"/>
          </a:xfrm>
          <a:prstGeom prst="rect">
            <a:avLst/>
          </a:prstGeom>
        </p:spPr>
      </p:pic>
      <p:pic>
        <p:nvPicPr>
          <p:cNvPr id="2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15350" y="1244600"/>
            <a:ext cx="628650" cy="1206500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6407150" y="2895600"/>
            <a:ext cx="22415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1141" dirty="0">
                <a:solidFill>
                  <a:srgbClr val="4142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观察世界，探索其他具有规律性、</a:t>
            </a:r>
            <a:endParaRPr lang="en-US" sz="1141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1141" dirty="0">
                <a:solidFill>
                  <a:srgbClr val="4142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周期性的自然现象</a:t>
            </a:r>
            <a:endParaRPr lang="en-US" sz="1141" dirty="0"/>
          </a:p>
        </p:txBody>
      </p:sp>
      <p:sp>
        <p:nvSpPr>
          <p:cNvPr id="29" name="Text 12"/>
          <p:cNvSpPr/>
          <p:nvPr/>
        </p:nvSpPr>
        <p:spPr>
          <a:xfrm>
            <a:off x="501650" y="4559300"/>
            <a:ext cx="16764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67" dirty="0">
                <a:solidFill>
                  <a:srgbClr val="92A0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</a:t>
            </a:r>
            <a:endParaRPr lang="en-US" sz="1067" dirty="0"/>
          </a:p>
        </p:txBody>
      </p:sp>
      <p:sp>
        <p:nvSpPr>
          <p:cNvPr id="30" name="Text 13"/>
          <p:cNvSpPr/>
          <p:nvPr/>
        </p:nvSpPr>
        <p:spPr>
          <a:xfrm>
            <a:off x="6413500" y="2298700"/>
            <a:ext cx="205105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9"/>
              </a:lnSpc>
              <a:buNone/>
            </a:pPr>
            <a:r>
              <a:rPr lang="en-US" sz="1958" b="1" dirty="0">
                <a:solidFill>
                  <a:srgbClr val="3334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还有哪些事物在做</a:t>
            </a:r>
            <a:endParaRPr lang="en-US" sz="1958" dirty="0"/>
          </a:p>
          <a:p>
            <a:pPr algn="l" indent="0" marL="0">
              <a:lnSpc>
                <a:spcPts val="2289"/>
              </a:lnSpc>
              <a:buNone/>
            </a:pPr>
            <a:r>
              <a:rPr lang="en-US" sz="1958" b="1" dirty="0">
                <a:solidFill>
                  <a:srgbClr val="3334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周期性运动？</a:t>
            </a:r>
            <a:endParaRPr lang="en-US" sz="1958" dirty="0"/>
          </a:p>
        </p:txBody>
      </p:sp>
      <p:sp>
        <p:nvSpPr>
          <p:cNvPr id="31" name="Text 14"/>
          <p:cNvSpPr/>
          <p:nvPr/>
        </p:nvSpPr>
        <p:spPr>
          <a:xfrm>
            <a:off x="3492500" y="2647950"/>
            <a:ext cx="219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199" dirty="0">
                <a:solidFill>
                  <a:srgbClr val="41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物理学家惠更斯利用单摆的等时</a:t>
            </a:r>
            <a:endParaRPr lang="en-US" sz="1199" dirty="0"/>
          </a:p>
          <a:p>
            <a:pPr algn="l" indent="0" marL="0">
              <a:lnSpc>
                <a:spcPts val="1617"/>
              </a:lnSpc>
              <a:buNone/>
            </a:pPr>
            <a:r>
              <a:rPr lang="en-US" sz="1199" dirty="0">
                <a:solidFill>
                  <a:srgbClr val="41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性，发明了人类首台精确摆钟</a:t>
            </a:r>
            <a:endParaRPr lang="en-US" sz="1199" dirty="0"/>
          </a:p>
        </p:txBody>
      </p:sp>
      <p:sp>
        <p:nvSpPr>
          <p:cNvPr id="32" name="Text 15"/>
          <p:cNvSpPr/>
          <p:nvPr/>
        </p:nvSpPr>
        <p:spPr>
          <a:xfrm>
            <a:off x="514350" y="2647950"/>
            <a:ext cx="23304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87" dirty="0">
                <a:solidFill>
                  <a:srgbClr val="4040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通过改变绳长，体验和控制秋干的</a:t>
            </a:r>
            <a:endParaRPr lang="en-US" sz="1187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187" dirty="0">
                <a:solidFill>
                  <a:srgbClr val="4040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摆动快慢</a:t>
            </a:r>
            <a:endParaRPr lang="en-US" sz="1187" dirty="0"/>
          </a:p>
        </p:txBody>
      </p:sp>
      <p:sp>
        <p:nvSpPr>
          <p:cNvPr id="33" name="Text 16"/>
          <p:cNvSpPr/>
          <p:nvPr/>
        </p:nvSpPr>
        <p:spPr>
          <a:xfrm>
            <a:off x="3492500" y="2292350"/>
            <a:ext cx="2298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33344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惠更斯与第一座摆钟</a:t>
            </a:r>
            <a:endParaRPr lang="en-US" sz="1950" dirty="0"/>
          </a:p>
        </p:txBody>
      </p:sp>
      <p:sp>
        <p:nvSpPr>
          <p:cNvPr id="34" name="Text 17"/>
          <p:cNvSpPr/>
          <p:nvPr/>
        </p:nvSpPr>
        <p:spPr>
          <a:xfrm>
            <a:off x="514350" y="2292350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975" b="1" dirty="0">
                <a:solidFill>
                  <a:srgbClr val="2D2F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调节秋千的节奏</a:t>
            </a:r>
            <a:endParaRPr lang="en-US" sz="1975" dirty="0"/>
          </a:p>
        </p:txBody>
      </p:sp>
      <p:sp>
        <p:nvSpPr>
          <p:cNvPr id="35" name="Text 18"/>
          <p:cNvSpPr/>
          <p:nvPr/>
        </p:nvSpPr>
        <p:spPr>
          <a:xfrm>
            <a:off x="520700" y="1422400"/>
            <a:ext cx="400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3"/>
              </a:lnSpc>
              <a:buNone/>
            </a:pPr>
            <a:r>
              <a:rPr lang="en-US" sz="911" dirty="0">
                <a:solidFill>
                  <a:srgbClr val="7273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PENDULUM LAWS · LIFE APPLICATION · HISTORY · FUTURE THINKING</a:t>
            </a:r>
            <a:endParaRPr lang="en-US" sz="911" dirty="0"/>
          </a:p>
        </p:txBody>
      </p:sp>
      <p:sp>
        <p:nvSpPr>
          <p:cNvPr id="36" name="Text 19"/>
          <p:cNvSpPr/>
          <p:nvPr/>
        </p:nvSpPr>
        <p:spPr>
          <a:xfrm>
            <a:off x="501650" y="863600"/>
            <a:ext cx="7416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77"/>
              </a:lnSpc>
              <a:buNone/>
            </a:pPr>
            <a:r>
              <a:rPr lang="en-US" sz="3147" b="1" dirty="0">
                <a:solidFill>
                  <a:srgbClr val="272A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掌握摆的规律就能成为时间的“魔法师”</a:t>
            </a:r>
            <a:endParaRPr lang="en-US" sz="314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F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350" y="4241800"/>
            <a:ext cx="190500" cy="1206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4100"/>
            <a:ext cx="1333500" cy="15494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850" y="4692650"/>
            <a:ext cx="4229100" cy="254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464550" y="3873500"/>
            <a:ext cx="279400" cy="279400"/>
          </a:xfrm>
          <a:prstGeom prst="rect">
            <a:avLst/>
          </a:prstGeom>
          <a:solidFill>
            <a:srgbClr val="FF5B6D"/>
          </a:solidFill>
          <a:ln w="6350">
            <a:solidFill>
              <a:srgbClr val="F85366"/>
            </a:solidFill>
            <a:prstDash val="solid"/>
          </a:ln>
        </p:spPr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350" y="1181100"/>
            <a:ext cx="2609850" cy="30670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450" y="2730500"/>
            <a:ext cx="88900" cy="8890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0650" y="0"/>
            <a:ext cx="1384300" cy="135890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327150"/>
            <a:ext cx="584200" cy="55245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0" y="1828800"/>
            <a:ext cx="95250" cy="95250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" y="3854450"/>
            <a:ext cx="1555750" cy="1289050"/>
          </a:xfrm>
          <a:prstGeom prst="rect">
            <a:avLst/>
          </a:prstGeom>
        </p:spPr>
      </p:pic>
      <p:sp>
        <p:nvSpPr>
          <p:cNvPr id="13" name="Shape 2"/>
          <p:cNvSpPr/>
          <p:nvPr/>
        </p:nvSpPr>
        <p:spPr>
          <a:xfrm>
            <a:off x="514350" y="3835400"/>
            <a:ext cx="1333500" cy="406400"/>
          </a:xfrm>
          <a:prstGeom prst="rect">
            <a:avLst/>
          </a:prstGeom>
          <a:solidFill>
            <a:srgbClr val="FCBA31"/>
          </a:solidFill>
          <a:ln w="6350">
            <a:solidFill>
              <a:srgbClr val="ECC24E"/>
            </a:solidFill>
            <a:prstDash val="solid"/>
          </a:ln>
        </p:spPr>
      </p:sp>
      <p:sp>
        <p:nvSpPr>
          <p:cNvPr id="14" name="Text 3"/>
          <p:cNvSpPr/>
          <p:nvPr/>
        </p:nvSpPr>
        <p:spPr>
          <a:xfrm>
            <a:off x="793750" y="3905250"/>
            <a:ext cx="80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540" b="1" dirty="0">
                <a:solidFill>
                  <a:srgbClr val="45301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团队互评</a:t>
            </a:r>
            <a:endParaRPr lang="en-US" sz="1540" dirty="0"/>
          </a:p>
        </p:txBody>
      </p:sp>
      <p:sp>
        <p:nvSpPr>
          <p:cNvPr id="15" name="Shape 4"/>
          <p:cNvSpPr/>
          <p:nvPr/>
        </p:nvSpPr>
        <p:spPr>
          <a:xfrm>
            <a:off x="514350" y="3200400"/>
            <a:ext cx="1327150" cy="412750"/>
          </a:xfrm>
          <a:prstGeom prst="rect">
            <a:avLst/>
          </a:prstGeom>
          <a:solidFill>
            <a:srgbClr val="6050EF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16" name="Text 5"/>
          <p:cNvSpPr/>
          <p:nvPr/>
        </p:nvSpPr>
        <p:spPr>
          <a:xfrm>
            <a:off x="781050" y="3263900"/>
            <a:ext cx="8255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2"/>
              </a:lnSpc>
              <a:buNone/>
            </a:pPr>
            <a:r>
              <a:rPr lang="en-US" sz="1576" b="1" dirty="0">
                <a:solidFill>
                  <a:srgbClr val="D6D0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数据质疑</a:t>
            </a:r>
            <a:endParaRPr lang="en-US" sz="1576" dirty="0"/>
          </a:p>
        </p:txBody>
      </p:sp>
      <p:sp>
        <p:nvSpPr>
          <p:cNvPr id="17" name="Shape 6"/>
          <p:cNvSpPr/>
          <p:nvPr/>
        </p:nvSpPr>
        <p:spPr>
          <a:xfrm>
            <a:off x="514350" y="2565400"/>
            <a:ext cx="1333500" cy="406400"/>
          </a:xfrm>
          <a:prstGeom prst="rect">
            <a:avLst/>
          </a:prstGeom>
          <a:solidFill>
            <a:srgbClr val="D1F003"/>
          </a:solidFill>
          <a:ln w="6350">
            <a:solidFill>
              <a:srgbClr val="D1E543"/>
            </a:solidFill>
            <a:prstDash val="solid"/>
          </a:ln>
        </p:spPr>
      </p:sp>
      <p:sp>
        <p:nvSpPr>
          <p:cNvPr id="18" name="Text 7"/>
          <p:cNvSpPr/>
          <p:nvPr/>
        </p:nvSpPr>
        <p:spPr>
          <a:xfrm>
            <a:off x="800100" y="2635250"/>
            <a:ext cx="80645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540" b="1" dirty="0">
                <a:solidFill>
                  <a:srgbClr val="323F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自我审视</a:t>
            </a:r>
            <a:endParaRPr lang="en-US" sz="1540" dirty="0"/>
          </a:p>
        </p:txBody>
      </p:sp>
      <p:sp>
        <p:nvSpPr>
          <p:cNvPr id="19" name="Shape 8"/>
          <p:cNvSpPr/>
          <p:nvPr/>
        </p:nvSpPr>
        <p:spPr>
          <a:xfrm>
            <a:off x="495300" y="450850"/>
            <a:ext cx="1435100" cy="323850"/>
          </a:xfrm>
          <a:prstGeom prst="rect">
            <a:avLst/>
          </a:prstGeom>
          <a:solidFill>
            <a:srgbClr val="17B9CB"/>
          </a:solidFill>
          <a:ln w="6350">
            <a:solidFill>
              <a:srgbClr val="4BB3BD"/>
            </a:solidFill>
            <a:prstDash val="solid"/>
          </a:ln>
        </p:spPr>
      </p:sp>
      <p:sp>
        <p:nvSpPr>
          <p:cNvPr id="20" name="Text 9"/>
          <p:cNvSpPr/>
          <p:nvPr/>
        </p:nvSpPr>
        <p:spPr>
          <a:xfrm>
            <a:off x="673100" y="520700"/>
            <a:ext cx="10858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2"/>
              </a:lnSpc>
              <a:buNone/>
            </a:pPr>
            <a:r>
              <a:rPr lang="en-US" sz="1185" dirty="0">
                <a:solidFill>
                  <a:srgbClr val="A8EB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科学反思与评价</a:t>
            </a:r>
            <a:endParaRPr lang="en-US" sz="1185" dirty="0"/>
          </a:p>
        </p:txBody>
      </p:sp>
      <p:sp>
        <p:nvSpPr>
          <p:cNvPr id="21" name="Text 10"/>
          <p:cNvSpPr/>
          <p:nvPr/>
        </p:nvSpPr>
        <p:spPr>
          <a:xfrm>
            <a:off x="2019300" y="3892550"/>
            <a:ext cx="31559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8"/>
              </a:lnSpc>
              <a:buNone/>
            </a:pPr>
            <a:r>
              <a:rPr lang="en-US" sz="1507" b="1" dirty="0">
                <a:solidFill>
                  <a:srgbClr val="3B3C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小组合作中大家是否都发挥了作用？</a:t>
            </a:r>
            <a:endParaRPr lang="en-US" sz="1507" dirty="0"/>
          </a:p>
        </p:txBody>
      </p:sp>
      <p:sp>
        <p:nvSpPr>
          <p:cNvPr id="22" name="Text 11"/>
          <p:cNvSpPr/>
          <p:nvPr/>
        </p:nvSpPr>
        <p:spPr>
          <a:xfrm>
            <a:off x="501650" y="4552950"/>
            <a:ext cx="195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067" dirty="0">
                <a:solidFill>
                  <a:srgbClr val="93A07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小学科学·可视化探究课件模板</a:t>
            </a:r>
            <a:endParaRPr lang="en-US" sz="1067" dirty="0"/>
          </a:p>
        </p:txBody>
      </p:sp>
      <p:sp>
        <p:nvSpPr>
          <p:cNvPr id="23" name="Text 12"/>
          <p:cNvSpPr/>
          <p:nvPr/>
        </p:nvSpPr>
        <p:spPr>
          <a:xfrm>
            <a:off x="2019300" y="3257550"/>
            <a:ext cx="29527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504" b="1" dirty="0">
                <a:solidFill>
                  <a:srgbClr val="3839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我们的记录足以支撑最终结论吗？</a:t>
            </a:r>
            <a:endParaRPr lang="en-US" sz="1504" dirty="0"/>
          </a:p>
        </p:txBody>
      </p:sp>
      <p:sp>
        <p:nvSpPr>
          <p:cNvPr id="24" name="Text 13"/>
          <p:cNvSpPr/>
          <p:nvPr/>
        </p:nvSpPr>
        <p:spPr>
          <a:xfrm>
            <a:off x="2019300" y="2616200"/>
            <a:ext cx="335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8"/>
              </a:lnSpc>
              <a:buNone/>
            </a:pPr>
            <a:r>
              <a:rPr lang="en-US" sz="1507" b="1" dirty="0">
                <a:solidFill>
                  <a:srgbClr val="3839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实验中途有没有不小心改变其他条件？</a:t>
            </a:r>
            <a:endParaRPr lang="en-US" sz="1507" dirty="0"/>
          </a:p>
        </p:txBody>
      </p:sp>
      <p:sp>
        <p:nvSpPr>
          <p:cNvPr id="25" name="Text 14"/>
          <p:cNvSpPr/>
          <p:nvPr/>
        </p:nvSpPr>
        <p:spPr>
          <a:xfrm>
            <a:off x="527050" y="2095500"/>
            <a:ext cx="278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6"/>
              </a:lnSpc>
              <a:buNone/>
            </a:pPr>
            <a:r>
              <a:rPr lang="en-US" sz="1130" dirty="0">
                <a:solidFill>
                  <a:srgbClr val="5F60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 TEST REFLECTION &amp; EVALUATION</a:t>
            </a:r>
            <a:endParaRPr lang="en-US" sz="1130" dirty="0"/>
          </a:p>
        </p:txBody>
      </p:sp>
      <p:sp>
        <p:nvSpPr>
          <p:cNvPr id="26" name="Text 15"/>
          <p:cNvSpPr/>
          <p:nvPr/>
        </p:nvSpPr>
        <p:spPr>
          <a:xfrm>
            <a:off x="495300" y="1460500"/>
            <a:ext cx="38036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58"/>
              </a:lnSpc>
              <a:buNone/>
            </a:pPr>
            <a:r>
              <a:rPr lang="en-US" sz="3631" b="1" dirty="0">
                <a:solidFill>
                  <a:srgbClr val="1E23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做到了公平测试？</a:t>
            </a:r>
            <a:endParaRPr lang="en-US" sz="3631" dirty="0"/>
          </a:p>
        </p:txBody>
      </p:sp>
      <p:sp>
        <p:nvSpPr>
          <p:cNvPr id="27" name="Text 16"/>
          <p:cNvSpPr/>
          <p:nvPr/>
        </p:nvSpPr>
        <p:spPr>
          <a:xfrm>
            <a:off x="495300" y="869950"/>
            <a:ext cx="304165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47"/>
              </a:lnSpc>
              <a:buNone/>
            </a:pPr>
            <a:r>
              <a:rPr lang="en-US" sz="3872" b="1" dirty="0">
                <a:solidFill>
                  <a:srgbClr val="1F2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我们是否真的</a:t>
            </a:r>
            <a:endParaRPr lang="en-US" sz="387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235200"/>
            <a:ext cx="3937000" cy="444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869950"/>
            <a:ext cx="565150" cy="7683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397000"/>
            <a:ext cx="254000" cy="2603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800" y="850900"/>
            <a:ext cx="222250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2550" y="933450"/>
            <a:ext cx="317500" cy="330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12700"/>
            <a:ext cx="4445000" cy="49466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300" y="1098550"/>
            <a:ext cx="368300" cy="342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7450" y="641350"/>
            <a:ext cx="292100" cy="292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9350" y="730250"/>
            <a:ext cx="203200" cy="215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900" y="3206750"/>
            <a:ext cx="4038600" cy="596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5750" y="3175000"/>
            <a:ext cx="565150" cy="666750"/>
          </a:xfrm>
          <a:prstGeom prst="rect">
            <a:avLst/>
          </a:prstGeom>
        </p:spPr>
      </p:pic>
      <p:sp>
        <p:nvSpPr>
          <p:cNvPr id="14" name="Shape 0"/>
          <p:cNvSpPr/>
          <p:nvPr/>
        </p:nvSpPr>
        <p:spPr>
          <a:xfrm>
            <a:off x="603250" y="3308350"/>
            <a:ext cx="1238250" cy="393700"/>
          </a:xfrm>
          <a:prstGeom prst="rect">
            <a:avLst/>
          </a:prstGeom>
          <a:solidFill>
            <a:srgbClr val="654FEC"/>
          </a:solidFill>
          <a:ln w="6350">
            <a:solidFill>
              <a:srgbClr val="8072D1"/>
            </a:solidFill>
            <a:prstDash val="solid"/>
          </a:ln>
        </p:spPr>
      </p:sp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3581400"/>
            <a:ext cx="1638300" cy="155575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831850" y="3371850"/>
            <a:ext cx="8001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528" b="1" dirty="0">
                <a:solidFill>
                  <a:srgbClr val="DBD2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表现奖励</a:t>
            </a:r>
            <a:endParaRPr lang="en-US" sz="1528" dirty="0"/>
          </a:p>
        </p:txBody>
      </p:sp>
      <p:sp>
        <p:nvSpPr>
          <p:cNvPr id="17" name="Text 2"/>
          <p:cNvSpPr/>
          <p:nvPr/>
        </p:nvSpPr>
        <p:spPr>
          <a:xfrm>
            <a:off x="1962150" y="33655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1"/>
              </a:lnSpc>
              <a:buNone/>
            </a:pPr>
            <a:r>
              <a:rPr lang="en-US" sz="1334" b="1" dirty="0">
                <a:solidFill>
                  <a:srgbClr val="494C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授予全体“科学探究勋章”</a:t>
            </a:r>
            <a:endParaRPr lang="en-US" sz="1334" dirty="0"/>
          </a:p>
        </p:txBody>
      </p:sp>
      <p:sp>
        <p:nvSpPr>
          <p:cNvPr id="18" name="Shape 3"/>
          <p:cNvSpPr/>
          <p:nvPr/>
        </p:nvSpPr>
        <p:spPr>
          <a:xfrm>
            <a:off x="508000" y="3937000"/>
            <a:ext cx="3956050" cy="615950"/>
          </a:xfrm>
          <a:prstGeom prst="rect">
            <a:avLst/>
          </a:prstGeom>
          <a:solidFill>
            <a:srgbClr val="FDFEFD"/>
          </a:solidFill>
          <a:ln w="19050">
            <a:solidFill>
              <a:srgbClr val="E6EBD7"/>
            </a:solidFill>
            <a:prstDash val="solid"/>
          </a:ln>
        </p:spPr>
      </p:sp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250" y="4051300"/>
            <a:ext cx="1238250" cy="400050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831850" y="4114800"/>
            <a:ext cx="80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540" b="1" dirty="0">
                <a:solidFill>
                  <a:srgbClr val="B6EC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课后作业</a:t>
            </a:r>
            <a:endParaRPr lang="en-US" sz="1540" dirty="0"/>
          </a:p>
        </p:txBody>
      </p:sp>
      <p:sp>
        <p:nvSpPr>
          <p:cNvPr id="21" name="Text 5"/>
          <p:cNvSpPr/>
          <p:nvPr/>
        </p:nvSpPr>
        <p:spPr>
          <a:xfrm>
            <a:off x="1962150" y="4006850"/>
            <a:ext cx="22225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415" b="1" dirty="0">
                <a:solidFill>
                  <a:srgbClr val="3E415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观察生活，找出一个做往返</a:t>
            </a:r>
            <a:endParaRPr lang="en-US" sz="1415" dirty="0"/>
          </a:p>
          <a:p>
            <a:pPr algn="l" indent="0" marL="0">
              <a:lnSpc>
                <a:spcPts val="1874"/>
              </a:lnSpc>
              <a:buNone/>
            </a:pPr>
            <a:r>
              <a:rPr lang="en-US" sz="1415" b="1" dirty="0">
                <a:solidFill>
                  <a:srgbClr val="3E415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运动的物体</a:t>
            </a:r>
            <a:endParaRPr lang="en-US" sz="1415" dirty="0"/>
          </a:p>
        </p:txBody>
      </p:sp>
      <p:sp>
        <p:nvSpPr>
          <p:cNvPr id="22" name="Shape 6"/>
          <p:cNvSpPr/>
          <p:nvPr/>
        </p:nvSpPr>
        <p:spPr>
          <a:xfrm>
            <a:off x="501650" y="2482850"/>
            <a:ext cx="3962400" cy="609600"/>
          </a:xfrm>
          <a:prstGeom prst="rect">
            <a:avLst/>
          </a:prstGeom>
          <a:solidFill>
            <a:srgbClr val="FEFEFE"/>
          </a:solidFill>
          <a:ln w="19050">
            <a:solidFill>
              <a:srgbClr val="EAEBEE"/>
            </a:solidFill>
            <a:prstDash val="solid"/>
          </a:ln>
        </p:spPr>
      </p:sp>
      <p:sp>
        <p:nvSpPr>
          <p:cNvPr id="23" name="Shape 7"/>
          <p:cNvSpPr/>
          <p:nvPr/>
        </p:nvSpPr>
        <p:spPr>
          <a:xfrm>
            <a:off x="603250" y="2590800"/>
            <a:ext cx="1238250" cy="393700"/>
          </a:xfrm>
          <a:prstGeom prst="rect">
            <a:avLst/>
          </a:prstGeom>
          <a:solidFill>
            <a:srgbClr val="FDB415"/>
          </a:solidFill>
          <a:ln w="6350">
            <a:solidFill>
              <a:srgbClr val="EABC4A"/>
            </a:solidFill>
            <a:prstDash val="solid"/>
          </a:ln>
        </p:spPr>
      </p:sp>
      <p:sp>
        <p:nvSpPr>
          <p:cNvPr id="24" name="Text 8"/>
          <p:cNvSpPr/>
          <p:nvPr/>
        </p:nvSpPr>
        <p:spPr>
          <a:xfrm>
            <a:off x="831850" y="2654300"/>
            <a:ext cx="8128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3"/>
              </a:lnSpc>
              <a:buNone/>
            </a:pPr>
            <a:r>
              <a:rPr lang="en-US" sz="1552" b="1" dirty="0">
                <a:solidFill>
                  <a:srgbClr val="F8EA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今日成就</a:t>
            </a:r>
            <a:endParaRPr lang="en-US" sz="1552" dirty="0"/>
          </a:p>
        </p:txBody>
      </p:sp>
      <p:sp>
        <p:nvSpPr>
          <p:cNvPr id="25" name="Text 9"/>
          <p:cNvSpPr/>
          <p:nvPr/>
        </p:nvSpPr>
        <p:spPr>
          <a:xfrm>
            <a:off x="1962150" y="2654300"/>
            <a:ext cx="203835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9"/>
              </a:lnSpc>
              <a:buNone/>
            </a:pPr>
            <a:r>
              <a:rPr lang="en-US" sz="1415" b="1" dirty="0">
                <a:solidFill>
                  <a:srgbClr val="4245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发现“长慢短快”的奥秘</a:t>
            </a:r>
            <a:endParaRPr lang="en-US" sz="1415" dirty="0"/>
          </a:p>
        </p:txBody>
      </p:sp>
      <p:sp>
        <p:nvSpPr>
          <p:cNvPr id="26" name="Shape 10"/>
          <p:cNvSpPr/>
          <p:nvPr/>
        </p:nvSpPr>
        <p:spPr>
          <a:xfrm>
            <a:off x="495300" y="450850"/>
            <a:ext cx="1435100" cy="323850"/>
          </a:xfrm>
          <a:prstGeom prst="rect">
            <a:avLst/>
          </a:prstGeom>
          <a:solidFill>
            <a:srgbClr val="13B9CC"/>
          </a:solidFill>
          <a:ln w="6350">
            <a:solidFill>
              <a:srgbClr val="48B3BE"/>
            </a:solidFill>
            <a:prstDash val="solid"/>
          </a:ln>
        </p:spPr>
      </p:sp>
      <p:sp>
        <p:nvSpPr>
          <p:cNvPr id="27" name="Text 11"/>
          <p:cNvSpPr/>
          <p:nvPr/>
        </p:nvSpPr>
        <p:spPr>
          <a:xfrm>
            <a:off x="800100" y="527050"/>
            <a:ext cx="8509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83" dirty="0">
                <a:solidFill>
                  <a:srgbClr val="9AE7E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小学科学探究</a:t>
            </a:r>
            <a:endParaRPr lang="en-US" sz="1083" dirty="0"/>
          </a:p>
        </p:txBody>
      </p:sp>
      <p:sp>
        <p:nvSpPr>
          <p:cNvPr id="28" name="Text 12"/>
          <p:cNvSpPr/>
          <p:nvPr/>
        </p:nvSpPr>
        <p:spPr>
          <a:xfrm>
            <a:off x="7251700" y="4635500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8"/>
              </a:lnSpc>
              <a:buNone/>
            </a:pPr>
            <a:r>
              <a:rPr lang="en-US" sz="890" dirty="0">
                <a:solidFill>
                  <a:srgbClr val="ADAE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小学科学·可视化探究课件</a:t>
            </a:r>
            <a:endParaRPr lang="en-US" sz="890" dirty="0"/>
          </a:p>
        </p:txBody>
      </p:sp>
      <p:sp>
        <p:nvSpPr>
          <p:cNvPr id="29" name="Text 13"/>
          <p:cNvSpPr/>
          <p:nvPr/>
        </p:nvSpPr>
        <p:spPr>
          <a:xfrm>
            <a:off x="501650" y="1485900"/>
            <a:ext cx="334645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11"/>
              </a:lnSpc>
              <a:buNone/>
            </a:pPr>
            <a:r>
              <a:rPr lang="en-US" sz="4260" b="1" dirty="0">
                <a:solidFill>
                  <a:srgbClr val="1E29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完成探究任务</a:t>
            </a:r>
            <a:endParaRPr lang="en-US" sz="4260" dirty="0"/>
          </a:p>
        </p:txBody>
      </p:sp>
      <p:sp>
        <p:nvSpPr>
          <p:cNvPr id="30" name="Text 14"/>
          <p:cNvSpPr/>
          <p:nvPr/>
        </p:nvSpPr>
        <p:spPr>
          <a:xfrm>
            <a:off x="488950" y="882650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89"/>
              </a:lnSpc>
              <a:buNone/>
            </a:pPr>
            <a:r>
              <a:rPr lang="en-US" sz="4074" b="1" dirty="0">
                <a:solidFill>
                  <a:srgbClr val="212C4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恭喜特工小队</a:t>
            </a:r>
            <a:endParaRPr lang="en-US" sz="40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教学课件</dc:title>
  <dc:subject>PptxGenJS Presentation</dc:subject>
  <dc:creator>PptxGenJS</dc:creator>
  <cp:lastModifiedBy>PptxGenJS</cp:lastModifiedBy>
  <cp:revision>1</cp:revision>
  <dcterms:created xsi:type="dcterms:W3CDTF">2026-10-25T10:46:17Z</dcterms:created>
  <dcterms:modified xsi:type="dcterms:W3CDTF">2026-10-25T10:46:17Z</dcterms:modified>
</cp:coreProperties>
</file>